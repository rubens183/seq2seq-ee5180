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Mid-term reproduced Table 1 rows 3-4. End-term asks whether the single fixed-length vector is the binding constraint, and we answer it by implementing Bahdanau attention on the same codebase and rerunning the identical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 is qualitative. We treat implementing and measuring the fix as the way to demonstrate real understanding, rather than describing attention in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Reversal is a workaround, and that is the hinge of this talk. If the fixed vector is the real constraint, then removing it should make the reversal trick unnecessary — which is a prediction we can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in one picture. The vector is fixed-width regardless of sentence length, and it is the only channel between encoder and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address the objection directly and we make it checkable. Lifting the 50-token cap matters even more here: long sentences are where the fixed vector is supposed to fail, so filtering them would have removed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query is s_{t-1}, the state before the step — that ordering is the paper's, and we have a test asserting teacher-forced training and step-by-step decoding agree to 1e-6, because an off-by-one here would silently make training optimise a model that decoding does not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control is the point of this slide. If the arms differed in optimiser or corpus we could not attribute a BLEU gap to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rather than assumed. A microbenchmark first suggested 1.38x; the real pipeline with packing and bucketing came in at 1.18x. We also measured and rejected a cheaper non-input-feeding variant: it needed a single 2.8 GB allocation and drove the machine into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byte-exact gate is the one we are proudest of. It converts 'we think the refactor was safe' into a checkable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possible statement of the bottleneck: a task with no language-model confound where the fixed-vector model simply cannot compete.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claim the direction and shape of the effect, never the absolute BLEU.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claim the direction and shape of the effect, never the absolute BLEU.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fixed-vector curve falls across the length buckets and the attention curve stays flat, the fixed-length vector was the binding constraint. If both fall equally, something else is — and we would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use if asked whether we only reported the tier that agreed with us. We ran the same grid on both, and the cheap tier disagrees on the length claim for a reason we can state: it has no long sentences. The honest reading is that Multi30k tests the plumbing and the seed variance, WMT tests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label the axis in encoder order rather than un-reversing it to make a prettier picture — the weights index the order the encoder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BLEU is a beam-mediated n-gram view. Perplexity by source length takes the decoding machinery out of the picture entirely, so it is the cleaner test of the same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removes a constraint the previous one worked around. The move from additive to dot-product attention is not cosmetic: it is what makes all-pairs attention affordable, and we have the memory measurement to show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on what the evidence does and does not support is the point of the project, not a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04A"/>
        </a:solidFill>
      </p:bgPr>
    </p:bg>
    <p:spTree>
      <p:nvGrpSpPr>
        <p:cNvPr id="1" name=""/>
        <p:cNvGrpSpPr/>
        <p:nvPr/>
      </p:nvGrpSpPr>
      <p:grpSpPr>
        <a:xfrm>
          <a:off x="0" y="0"/>
          <a:ext cx="0" cy="0"/>
          <a:chOff x="0" y="0"/>
          <a:chExt cx="0" cy="0"/>
        </a:xfrm>
      </p:grpSpPr>
      <p:sp>
        <p:nvSpPr>
          <p:cNvPr id="2" name="Text 0"/>
          <p:cNvSpPr txBox="1"/>
          <p:nvPr/>
        </p:nvSpPr>
        <p:spPr>
          <a:xfrm>
            <a:off x="548640" y="1783080"/>
            <a:ext cx="1106424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fixed-vector bottleneck</a:t>
            </a:r>
            <a:endParaRPr lang="en-US" sz="4600" dirty="0"/>
          </a:p>
        </p:txBody>
      </p:sp>
      <p:sp>
        <p:nvSpPr>
          <p:cNvPr id="3" name="Text 1"/>
          <p:cNvSpPr txBox="1"/>
          <p:nvPr/>
        </p:nvSpPr>
        <p:spPr>
          <a:xfrm>
            <a:off x="548640" y="2633472"/>
            <a:ext cx="11064240" cy="457200"/>
          </a:xfrm>
          <a:prstGeom prst="rect">
            <a:avLst/>
          </a:prstGeom>
          <a:noFill/>
          <a:ln/>
        </p:spPr>
        <p:txBody>
          <a:bodyPr wrap="square" lIns="0" tIns="0" rIns="0" bIns="0" rtlCol="0" anchor="ctr"/>
          <a:lstStyle/>
          <a:p>
            <a:pPr indent="0" marL="0">
              <a:buNone/>
            </a:pPr>
            <a:r>
              <a:rPr lang="en-US" sz="2400" dirty="0">
                <a:solidFill>
                  <a:srgbClr val="CADCFC"/>
                </a:solidFill>
                <a:latin typeface="Cambria" pitchFamily="34" charset="0"/>
                <a:ea typeface="Cambria" pitchFamily="34" charset="-122"/>
                <a:cs typeface="Cambria" pitchFamily="34" charset="-120"/>
              </a:rPr>
              <a:t>…and what removing it does</a:t>
            </a:r>
            <a:endParaRPr lang="en-US" sz="2400" dirty="0"/>
          </a:p>
        </p:txBody>
      </p:sp>
      <p:sp>
        <p:nvSpPr>
          <p:cNvPr id="4" name="Text 2"/>
          <p:cNvSpPr txBox="1"/>
          <p:nvPr/>
        </p:nvSpPr>
        <p:spPr>
          <a:xfrm>
            <a:off x="548640" y="3163824"/>
            <a:ext cx="11064240" cy="329184"/>
          </a:xfrm>
          <a:prstGeom prst="rect">
            <a:avLst/>
          </a:prstGeom>
          <a:noFill/>
          <a:ln/>
        </p:spPr>
        <p:txBody>
          <a:bodyPr wrap="square" lIns="0" tIns="0" rIns="0" bIns="0" rtlCol="0" anchor="ctr"/>
          <a:lstStyle/>
          <a:p>
            <a:pPr indent="0" marL="0">
              <a:buNone/>
            </a:pPr>
            <a:r>
              <a:rPr lang="en-US" sz="1500" dirty="0">
                <a:solidFill>
                  <a:srgbClr val="9FB0D8"/>
                </a:solidFill>
                <a:latin typeface="Calibri" pitchFamily="34" charset="0"/>
                <a:ea typeface="Calibri" pitchFamily="34" charset="-122"/>
                <a:cs typeface="Calibri" pitchFamily="34" charset="-120"/>
              </a:rPr>
              <a:t>Sutskever, Vinyals &amp; Le (2014)  →  Bahdanau, Cho &amp; Bengio (2015)</a:t>
            </a:r>
            <a:endParaRPr lang="en-US" sz="1500" dirty="0"/>
          </a:p>
        </p:txBody>
      </p:sp>
      <p:sp>
        <p:nvSpPr>
          <p:cNvPr id="5" name="Text 3"/>
          <p:cNvSpPr txBox="1"/>
          <p:nvPr/>
        </p:nvSpPr>
        <p:spPr>
          <a:xfrm>
            <a:off x="548640" y="3977640"/>
            <a:ext cx="11064240" cy="329184"/>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EE5180 course project  ·  end-term deliverable  ·  TA: Prasenjit Kr Mudi (EE21D057)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THE BRIEF</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What the end-term asks for</a:t>
            </a:r>
            <a:endParaRPr lang="en-US" sz="3400" dirty="0"/>
          </a:p>
        </p:txBody>
      </p:sp>
      <p:sp>
        <p:nvSpPr>
          <p:cNvPr id="4" name="Text 2"/>
          <p:cNvSpPr txBox="1"/>
          <p:nvPr/>
        </p:nvSpPr>
        <p:spPr>
          <a:xfrm>
            <a:off x="548640" y="1572768"/>
            <a:ext cx="11064240" cy="1371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Study the bottleneck problem of the fixed-length context vector.</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Explain how it motivated Attention, and Attention the Transformer.</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Time permitting: the roadmap on to modern LLM-based MT.</a:t>
            </a:r>
            <a:endParaRPr lang="en-US" sz="1500" dirty="0"/>
          </a:p>
        </p:txBody>
      </p:sp>
      <p:sp>
        <p:nvSpPr>
          <p:cNvPr id="5" name="Text 3"/>
          <p:cNvSpPr txBox="1"/>
          <p:nvPr/>
        </p:nvSpPr>
        <p:spPr>
          <a:xfrm>
            <a:off x="548640" y="2971800"/>
            <a:ext cx="11064240" cy="457200"/>
          </a:xfrm>
          <a:prstGeom prst="rect">
            <a:avLst/>
          </a:prstGeom>
          <a:noFill/>
          <a:ln/>
        </p:spPr>
        <p:txBody>
          <a:bodyPr wrap="square" lIns="0" tIns="0" rIns="0" bIns="0" rtlCol="0" anchor="ctr"/>
          <a:lstStyle/>
          <a:p>
            <a:pPr indent="0" marL="0">
              <a:buNone/>
            </a:pPr>
            <a:r>
              <a:rPr lang="en-US" sz="2000" b="1" dirty="0">
                <a:solidFill>
                  <a:srgbClr val="18204A"/>
                </a:solidFill>
                <a:latin typeface="Cambria" pitchFamily="34" charset="0"/>
                <a:ea typeface="Cambria" pitchFamily="34" charset="-122"/>
                <a:cs typeface="Cambria" pitchFamily="34" charset="-120"/>
              </a:rPr>
              <a:t>Our bar: don't just explain it — remove it and measure what happens.</a:t>
            </a:r>
            <a:endParaRPr lang="en-US" sz="2000" dirty="0"/>
          </a:p>
        </p:txBody>
      </p:sp>
      <p:sp>
        <p:nvSpPr>
          <p:cNvPr id="6" name="Text 4"/>
          <p:cNvSpPr txBox="1"/>
          <p:nvPr/>
        </p:nvSpPr>
        <p:spPr>
          <a:xfrm>
            <a:off x="548640" y="3520440"/>
            <a:ext cx="11064240" cy="16459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Implement Bahdanau attention on our own mid-term codebase, behind one flag.</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Rerun the identical grid, with the baseline retrained on identical data.</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Report the SHAPE of the effect (BLEU vs source length), not just a higher number.</a:t>
            </a:r>
            <a:endParaRPr lang="en-US" sz="1500" dirty="0"/>
          </a:p>
        </p:txBody>
      </p:sp>
      <p:sp>
        <p:nvSpPr>
          <p:cNvPr id="7" name="Text 5"/>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No numeric grading weights were given for this topic; 'study' and 'explain' are the stated bar.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Where the mid-term left us</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6949440"/>
                <a:gridCol w="2194560"/>
                <a:gridCol w="1920240"/>
              </a:tblGrid>
              <a:tr h="31089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Mid-term result (WMT'14, newstest2014, beam 12)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BLEU</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ppl</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Single forward LSTM</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C44E52"/>
                          </a:solidFill>
                          <a:latin typeface="Calibri" pitchFamily="34" charset="0"/>
                          <a:ea typeface="Calibri" pitchFamily="34" charset="-122"/>
                          <a:cs typeface="Calibri" pitchFamily="34" charset="-120"/>
                        </a:rPr>
                        <a:t>3.89</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32.888</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Single reversed LSTM</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6.60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24.504</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
        <p:nvSpPr>
          <p:cNvPr id="5" name="Text 2"/>
          <p:cNvSpPr txBox="1"/>
          <p:nvPr/>
        </p:nvSpPr>
        <p:spPr>
          <a:xfrm>
            <a:off x="548640" y="2834640"/>
            <a:ext cx="11064240" cy="20116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Reversing the source won on BLEU and perplexity, at every epoch and in every length bucket — the paper's central claim reproduced in direction.</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But reversal does not remove the bottleneck; it works AROUND it, by shortening the lag between a source word and the step that needs it.</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Both arms still push the whole sentence through one vector before decoding starts.</a:t>
            </a:r>
            <a:endParaRPr lang="en-US" sz="1500" dirty="0"/>
          </a:p>
        </p:txBody>
      </p:sp>
      <p:sp>
        <p:nvSpPr>
          <p:cNvPr id="6" name="Text 3"/>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Absolute BLEU is far below the paper's 26.17 / 30.59 — 500k pairs vs 12M, 2×512 vs 4×1000, one laptop GPU vs 8 GPUs for 10 days.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The bottleneck, concretely</a:t>
            </a:r>
            <a:endParaRPr lang="en-US" sz="3400" dirty="0"/>
          </a:p>
        </p:txBody>
      </p:sp>
      <p:sp>
        <p:nvSpPr>
          <p:cNvPr id="4" name="Shape 2"/>
          <p:cNvSpPr/>
          <p:nvPr/>
        </p:nvSpPr>
        <p:spPr>
          <a:xfrm>
            <a:off x="548640" y="1572768"/>
            <a:ext cx="11064240" cy="2148840"/>
          </a:xfrm>
          <a:prstGeom prst="roundRect">
            <a:avLst>
              <a:gd name="adj" fmla="val 3404"/>
            </a:avLst>
          </a:prstGeom>
          <a:solidFill>
            <a:srgbClr val="F6F7FB"/>
          </a:solidFill>
          <a:ln w="12700">
            <a:solidFill>
              <a:srgbClr val="D6DBE8"/>
            </a:solidFill>
            <a:prstDash val="solid"/>
          </a:ln>
        </p:spPr>
      </p:sp>
      <p:sp>
        <p:nvSpPr>
          <p:cNvPr id="5" name="Text 3"/>
          <p:cNvSpPr txBox="1"/>
          <p:nvPr/>
        </p:nvSpPr>
        <p:spPr>
          <a:xfrm>
            <a:off x="777240" y="1700784"/>
            <a:ext cx="10607040" cy="1920240"/>
          </a:xfrm>
          <a:prstGeom prst="rect">
            <a:avLst/>
          </a:prstGeom>
          <a:noFill/>
          <a:ln/>
        </p:spPr>
        <p:txBody>
          <a:bodyPr wrap="square" lIns="0" tIns="0" rIns="0" bIns="0" rtlCol="0" anchor="ctr"/>
          <a:lstStyle/>
          <a:p>
            <a:pPr indent="0" marL="0">
              <a:lnSpc>
                <a:spcPct val="125000"/>
              </a:lnSpc>
              <a:buNone/>
            </a:pPr>
            <a:r>
              <a:rPr lang="en-US" sz="1500" dirty="0">
                <a:solidFill>
                  <a:srgbClr val="18204A"/>
                </a:solidFill>
                <a:latin typeface="Consolas" pitchFamily="34" charset="0"/>
                <a:ea typeface="Consolas" pitchFamily="34" charset="-122"/>
                <a:cs typeface="Consolas" pitchFamily="34" charset="-120"/>
              </a:rPr>
              <a:t>encoder LSTM  ──▶   v   ──▶  decoder LSTM  ──▶  beam search</a:t>
            </a:r>
            <a:endParaRPr lang="en-US" sz="1500" dirty="0"/>
          </a:p>
          <a:p>
            <a:pPr indent="0" marL="0">
              <a:lnSpc>
                <a:spcPct val="125000"/>
              </a:lnSpc>
              <a:buNone/>
            </a:pPr>
            <a:r>
              <a:rPr lang="en-US" sz="1500" dirty="0">
                <a:solidFill>
                  <a:srgbClr val="18204A"/>
                </a:solidFill>
                <a:latin typeface="Consolas" pitchFamily="34" charset="0"/>
                <a:ea typeface="Consolas" pitchFamily="34" charset="-122"/>
                <a:cs typeface="Consolas" pitchFamily="34" charset="-120"/>
              </a:rPr>
              <a:t>                    ▲</a:t>
            </a:r>
            <a:endParaRPr lang="en-US" sz="1500" dirty="0"/>
          </a:p>
          <a:p>
            <a:pPr indent="0" marL="0">
              <a:lnSpc>
                <a:spcPct val="125000"/>
              </a:lnSpc>
              <a:buNone/>
            </a:pPr>
            <a:r>
              <a:rPr lang="en-US" sz="1500" dirty="0">
                <a:solidFill>
                  <a:srgbClr val="18204A"/>
                </a:solidFill>
                <a:latin typeface="Consolas" pitchFamily="34" charset="0"/>
                <a:ea typeface="Consolas" pitchFamily="34" charset="-122"/>
                <a:cs typeface="Consolas" pitchFamily="34" charset="-120"/>
              </a:rPr>
              <a:t>            2,048 real numbers (2 layers × 512 × h,c)</a:t>
            </a:r>
            <a:endParaRPr lang="en-US" sz="1500" dirty="0"/>
          </a:p>
          <a:p>
            <a:pPr indent="0" marL="0">
              <a:lnSpc>
                <a:spcPct val="125000"/>
              </a:lnSpc>
              <a:buNone/>
            </a:pPr>
            <a:r>
              <a:rPr lang="en-US" sz="1500" dirty="0">
                <a:solidFill>
                  <a:srgbClr val="18204A"/>
                </a:solidFill>
                <a:latin typeface="Consolas" pitchFamily="34" charset="0"/>
                <a:ea typeface="Consolas" pitchFamily="34" charset="-122"/>
                <a:cs typeface="Consolas" pitchFamily="34" charset="-120"/>
              </a:rPr>
              <a:t>            the paper's is 8,000 (4 × 1000 × h,c)</a:t>
            </a:r>
            <a:endParaRPr lang="en-US" sz="1500" dirty="0"/>
          </a:p>
          <a:p>
            <a:pPr indent="0" marL="0">
              <a:lnSpc>
                <a:spcPct val="125000"/>
              </a:lnSpc>
              <a:buNone/>
            </a:pPr>
            <a:endParaRPr lang="en-US" sz="1500" dirty="0"/>
          </a:p>
          <a:p>
            <a:pPr indent="0" marL="0">
              <a:lnSpc>
                <a:spcPct val="125000"/>
              </a:lnSpc>
              <a:buNone/>
            </a:pPr>
            <a:r>
              <a:rPr lang="en-US" sz="1500" dirty="0">
                <a:solidFill>
                  <a:srgbClr val="18204A"/>
                </a:solidFill>
                <a:latin typeface="Consolas" pitchFamily="34" charset="0"/>
                <a:ea typeface="Consolas" pitchFamily="34" charset="-122"/>
                <a:cs typeface="Consolas" pitchFamily="34" charset="-120"/>
              </a:rPr>
              <a:t>   every decoder step reads the SAME v</a:t>
            </a:r>
            <a:endParaRPr lang="en-US" sz="1500" dirty="0"/>
          </a:p>
        </p:txBody>
      </p:sp>
      <p:sp>
        <p:nvSpPr>
          <p:cNvPr id="6" name="Text 4"/>
          <p:cNvSpPr txBox="1"/>
          <p:nvPr/>
        </p:nvSpPr>
        <p:spPr>
          <a:xfrm>
            <a:off x="548640" y="3931920"/>
            <a:ext cx="11064240" cy="17373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The encoder must decide what to keep BEFORE it knows what the decoder will ask for.</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A 60-token sentence gets exactly as much room as a 6-token one.</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So the prediction: quality should fall as the source gets longer.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CORPUS</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First: we stopped discarding mismatched pairs</a:t>
            </a:r>
            <a:endParaRPr lang="en-US" sz="3400" dirty="0"/>
          </a:p>
        </p:txBody>
      </p:sp>
      <p:sp>
        <p:nvSpPr>
          <p:cNvPr id="4" name="Text 2"/>
          <p:cNvSpPr txBox="1"/>
          <p:nvPr/>
        </p:nvSpPr>
        <p:spPr>
          <a:xfrm>
            <a:off x="548640" y="1481328"/>
            <a:ext cx="1106424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Raised in review of the mid-term — and it was right.</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6035040"/>
                <a:gridCol w="2468880"/>
                <a:gridCol w="2560320"/>
              </a:tblGrid>
              <a:tr h="31089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WMT'14 pairs dropped</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mid-term</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end-term</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source/target length MISMATCH (ratio &gt; 2.5)</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C44E52"/>
                          </a:solidFill>
                          <a:latin typeface="Calibri" pitchFamily="34" charset="0"/>
                          <a:ea typeface="Calibri" pitchFamily="34" charset="-122"/>
                          <a:cs typeface="Calibri" pitchFamily="34" charset="-120"/>
                        </a:rPr>
                        <a:t>1,823</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2F7A4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over the length cap (50 → 100 tokens)</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170,275</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6,752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empty line / exact duplicate (kept as hygiene)</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23,273</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23,507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 training pairs (held FIXED)</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3B4A7A"/>
                          </a:solidFill>
                          <a:latin typeface="Calibri" pitchFamily="34" charset="0"/>
                          <a:ea typeface="Calibri" pitchFamily="34" charset="-122"/>
                          <a:cs typeface="Calibri" pitchFamily="34" charset="-120"/>
                        </a:rPr>
                        <a:t>500,000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3B4A7A"/>
                          </a:solidFill>
                          <a:latin typeface="Calibri" pitchFamily="34" charset="0"/>
                          <a:ea typeface="Calibri" pitchFamily="34" charset="-122"/>
                          <a:cs typeface="Calibri" pitchFamily="34" charset="-120"/>
                        </a:rPr>
                        <a:t>500,000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
        <p:nvSpPr>
          <p:cNvPr id="6" name="Text 3"/>
          <p:cNvSpPr txBox="1"/>
          <p:nvPr/>
        </p:nvSpPr>
        <p:spPr>
          <a:xfrm>
            <a:off x="548640" y="3657600"/>
            <a:ext cx="11064240" cy="20116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A pair is not bad data because one language says the same thing in fewer words.</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Corpus SIZE held fixed at 500k, so only the length distribution moves (mean target 26.1 → 30.8 tokens).</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Mid-term pipeline untouched: it still regenerates the submitted corpus exactly.</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The baseline is RETRAINED on this data — otherwise the comparison confounds architecture with corpus.</a:t>
            </a:r>
            <a:endParaRPr lang="en-US" sz="1400" dirty="0"/>
          </a:p>
        </p:txBody>
      </p:sp>
      <p:sp>
        <p:nvSpPr>
          <p:cNvPr id="7" name="Text 4"/>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prepare_report.json now records "ratio": 0 — the artefact to check, rather than taking the slide's word for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THE FIX</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Bahdanau additive attention</a:t>
            </a:r>
            <a:endParaRPr lang="en-US" sz="3400" dirty="0"/>
          </a:p>
        </p:txBody>
      </p:sp>
      <p:sp>
        <p:nvSpPr>
          <p:cNvPr id="4" name="Shape 2"/>
          <p:cNvSpPr/>
          <p:nvPr/>
        </p:nvSpPr>
        <p:spPr>
          <a:xfrm>
            <a:off x="548640" y="1572768"/>
            <a:ext cx="11064240" cy="1783080"/>
          </a:xfrm>
          <a:prstGeom prst="roundRect">
            <a:avLst>
              <a:gd name="adj" fmla="val 4103"/>
            </a:avLst>
          </a:prstGeom>
          <a:solidFill>
            <a:srgbClr val="F6F7FB"/>
          </a:solidFill>
          <a:ln w="12700">
            <a:solidFill>
              <a:srgbClr val="D6DBE8"/>
            </a:solidFill>
            <a:prstDash val="solid"/>
          </a:ln>
        </p:spPr>
      </p:sp>
      <p:sp>
        <p:nvSpPr>
          <p:cNvPr id="5" name="Text 3"/>
          <p:cNvSpPr txBox="1"/>
          <p:nvPr/>
        </p:nvSpPr>
        <p:spPr>
          <a:xfrm>
            <a:off x="777240" y="1700784"/>
            <a:ext cx="10607040" cy="1554480"/>
          </a:xfrm>
          <a:prstGeom prst="rect">
            <a:avLst/>
          </a:prstGeom>
          <a:noFill/>
          <a:ln/>
        </p:spPr>
        <p:txBody>
          <a:bodyPr wrap="square" lIns="0" tIns="0" rIns="0" bIns="0" rtlCol="0" anchor="ctr"/>
          <a:lstStyle/>
          <a:p>
            <a:pPr indent="0" marL="0">
              <a:lnSpc>
                <a:spcPct val="125000"/>
              </a:lnSpc>
              <a:buNone/>
            </a:pPr>
            <a:r>
              <a:rPr lang="en-US" sz="1400" dirty="0">
                <a:solidFill>
                  <a:srgbClr val="18204A"/>
                </a:solidFill>
                <a:latin typeface="Consolas" pitchFamily="34" charset="0"/>
                <a:ea typeface="Consolas" pitchFamily="34" charset="-122"/>
                <a:cs typeface="Consolas" pitchFamily="34" charset="-120"/>
              </a:rPr>
              <a:t>e_tj = vᵀ tanh(W_enc h_j + W_dec s_{t-1})     score every source position</a:t>
            </a:r>
            <a:endParaRPr lang="en-US" sz="1400" dirty="0"/>
          </a:p>
          <a:p>
            <a:pPr indent="0" marL="0">
              <a:lnSpc>
                <a:spcPct val="125000"/>
              </a:lnSpc>
              <a:buNone/>
            </a:pPr>
            <a:r>
              <a:rPr lang="en-US" sz="1400" dirty="0">
                <a:solidFill>
                  <a:srgbClr val="18204A"/>
                </a:solidFill>
                <a:latin typeface="Consolas" pitchFamily="34" charset="0"/>
                <a:ea typeface="Consolas" pitchFamily="34" charset="-122"/>
                <a:cs typeface="Consolas" pitchFamily="34" charset="-120"/>
              </a:rPr>
              <a:t>a_t  = softmax(e_t)                           pad positions masked out</a:t>
            </a:r>
            <a:endParaRPr lang="en-US" sz="1400" dirty="0"/>
          </a:p>
          <a:p>
            <a:pPr indent="0" marL="0">
              <a:lnSpc>
                <a:spcPct val="125000"/>
              </a:lnSpc>
              <a:buNone/>
            </a:pPr>
            <a:r>
              <a:rPr lang="en-US" sz="1400" dirty="0">
                <a:solidFill>
                  <a:srgbClr val="18204A"/>
                </a:solidFill>
                <a:latin typeface="Consolas" pitchFamily="34" charset="0"/>
                <a:ea typeface="Consolas" pitchFamily="34" charset="-122"/>
                <a:cs typeface="Consolas" pitchFamily="34" charset="-120"/>
              </a:rPr>
              <a:t>c_t  = Σ_j a_tj h_j                           the context for step t</a:t>
            </a:r>
            <a:endParaRPr lang="en-US" sz="1400" dirty="0"/>
          </a:p>
          <a:p>
            <a:pPr indent="0" marL="0">
              <a:lnSpc>
                <a:spcPct val="125000"/>
              </a:lnSpc>
              <a:buNone/>
            </a:pPr>
            <a:r>
              <a:rPr lang="en-US" sz="1400" dirty="0">
                <a:solidFill>
                  <a:srgbClr val="18204A"/>
                </a:solidFill>
                <a:latin typeface="Consolas" pitchFamily="34" charset="0"/>
                <a:ea typeface="Consolas" pitchFamily="34" charset="-122"/>
                <a:cs typeface="Consolas" pitchFamily="34" charset="-120"/>
              </a:rPr>
              <a:t>s_t  = LSTM([E y_{t-1} ; c_t], s_{t-1})       context enters the recurrence</a:t>
            </a:r>
            <a:endParaRPr lang="en-US" sz="1400" dirty="0"/>
          </a:p>
        </p:txBody>
      </p:sp>
      <p:sp>
        <p:nvSpPr>
          <p:cNvPr id="6" name="Text 4"/>
          <p:cNvSpPr txBox="1"/>
          <p:nvPr/>
        </p:nvSpPr>
        <p:spPr>
          <a:xfrm>
            <a:off x="548640" y="3566160"/>
            <a:ext cx="11064240" cy="2103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The encoder keeps one annotation h_j PER SOURCE POSITION, instead of only its final state.</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At t = 0 the query s_{t-1} IS the baseline's sentence vector — attention starts from the bottleneck and is then allowed to look back.</a:t>
            </a:r>
            <a:endParaRPr lang="en-US" sz="1500" dirty="0"/>
          </a:p>
          <a:p>
            <a:pPr marL="342900" indent="-342900">
              <a:spcAft>
                <a:spcPts val="900"/>
              </a:spcAft>
              <a:buSzPct val="100000"/>
              <a:buChar char="•"/>
            </a:pPr>
            <a:r>
              <a:rPr lang="en-US" sz="1500" dirty="0">
                <a:solidFill>
                  <a:srgbClr val="3B4A7A"/>
                </a:solidFill>
                <a:latin typeface="Calibri" pitchFamily="34" charset="0"/>
                <a:ea typeface="Calibri" pitchFamily="34" charset="-122"/>
                <a:cs typeface="Calibri" pitchFamily="34" charset="-120"/>
              </a:rPr>
              <a:t>W_enc h_j is precomputed once per sentence, not once per step; that is what keeps it affordable.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CONTROLS</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One flag is the only difference</a:t>
            </a:r>
            <a:endParaRPr lang="en-US" sz="3400" dirty="0"/>
          </a:p>
        </p:txBody>
      </p:sp>
      <p:sp>
        <p:nvSpPr>
          <p:cNvPr id="4" name="Text 2"/>
          <p:cNvSpPr txBox="1"/>
          <p:nvPr/>
        </p:nvSpPr>
        <p:spPr>
          <a:xfrm>
            <a:off x="548640" y="1481328"/>
            <a:ext cx="3840480" cy="411480"/>
          </a:xfrm>
          <a:prstGeom prst="rect">
            <a:avLst/>
          </a:prstGeom>
          <a:noFill/>
          <a:ln/>
        </p:spPr>
        <p:txBody>
          <a:bodyPr wrap="square" lIns="0" tIns="0" rIns="0" bIns="0" rtlCol="0" anchor="ctr"/>
          <a:lstStyle/>
          <a:p>
            <a:pPr indent="0" marL="0">
              <a:buNone/>
            </a:pPr>
            <a:r>
              <a:rPr lang="en-US" sz="1800" b="1" dirty="0">
                <a:solidFill>
                  <a:srgbClr val="4C72B0"/>
                </a:solidFill>
                <a:latin typeface="Consolas" pitchFamily="34" charset="0"/>
                <a:ea typeface="Consolas" pitchFamily="34" charset="-122"/>
                <a:cs typeface="Consolas" pitchFamily="34" charset="-120"/>
              </a:rPr>
              <a:t>attention: bahdanau</a:t>
            </a:r>
            <a:endParaRPr lang="en-US" sz="1800" dirty="0"/>
          </a:p>
        </p:txBody>
      </p:sp>
      <p:sp>
        <p:nvSpPr>
          <p:cNvPr id="5" name="Text 3"/>
          <p:cNvSpPr txBox="1"/>
          <p:nvPr/>
        </p:nvSpPr>
        <p:spPr>
          <a:xfrm>
            <a:off x="548640" y="2011680"/>
            <a:ext cx="11064240" cy="15544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HELD IDENTICAL: corpus, vocabulary, seed, batch order, length bucketing; plain SGD 0.7 with no momentum; the halving schedule; summed-NLL ÷ batch size with clip at 5; U(−0.08, 0.08) init — including on the attention parameters; beam search and both BLEU conventions.</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Both arms read ONE config file. There is no second config to drift out of sync.</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64240" cy="914400"/>
        </p:xfrm>
        <a:graphic>
          <a:graphicData uri="http://schemas.openxmlformats.org/drawingml/2006/table">
            <a:tbl>
              <a:tblPr/>
              <a:tblGrid>
                <a:gridCol w="3657600"/>
                <a:gridCol w="7406640"/>
              </a:tblGrid>
              <a:tr h="274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Declared deviation</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274320">
                <a:tc>
                  <a:txBody>
                    <a:bodyPr/>
                    <a:lstStyle/>
                    <a:p>
                      <a:pPr algn="l" indent="0" marL="0">
                        <a:buNone/>
                      </a:pPr>
                      <a:r>
                        <a:rPr lang="en-US" sz="1100" dirty="0">
                          <a:solidFill>
                            <a:srgbClr val="3B4A7A"/>
                          </a:solidFill>
                          <a:latin typeface="Calibri" pitchFamily="34" charset="0"/>
                          <a:ea typeface="Calibri" pitchFamily="34" charset="-122"/>
                          <a:cs typeface="Calibri" pitchFamily="34" charset="-120"/>
                        </a:rPr>
                        <a:t>tanh readout, not the paper's maxout</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l" indent="0" marL="0">
                        <a:buNone/>
                      </a:pPr>
                      <a:r>
                        <a:rPr lang="en-US" sz="1100" dirty="0">
                          <a:solidFill>
                            <a:srgbClr val="3B4A7A"/>
                          </a:solidFill>
                          <a:latin typeface="Calibri" pitchFamily="34" charset="0"/>
                          <a:ea typeface="Calibri" pitchFamily="34" charset="-122"/>
                          <a:cs typeface="Calibri" pitchFamily="34" charset="-120"/>
                        </a:rPr>
                        <a:t>All three of Bahdanau's terms kept (U_o s + V_o E y + C_o c); tanh bounds the output so SGD 0.7 / clip 5 transfer untouched. An unbounded readout needs its own tuning — then a BLEU gap could be an optimisation artefact.</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l" indent="0" marL="0">
                        <a:buNone/>
                      </a:pPr>
                      <a:r>
                        <a:rPr lang="en-US" sz="1100" dirty="0">
                          <a:solidFill>
                            <a:srgbClr val="3B4A7A"/>
                          </a:solidFill>
                          <a:latin typeface="Calibri" pitchFamily="34" charset="0"/>
                          <a:ea typeface="Calibri" pitchFamily="34" charset="-122"/>
                          <a:cs typeface="Calibri" pitchFamily="34" charset="-120"/>
                        </a:rPr>
                        <a:t>unidirectional encoder (paper: BiRNN)</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l" indent="0" marL="0">
                        <a:buNone/>
                      </a:pPr>
                      <a:r>
                        <a:rPr lang="en-US" sz="1100" dirty="0">
                          <a:solidFill>
                            <a:srgbClr val="3B4A7A"/>
                          </a:solidFill>
                          <a:latin typeface="Calibri" pitchFamily="34" charset="0"/>
                          <a:ea typeface="Calibri" pitchFamily="34" charset="-122"/>
                          <a:cs typeface="Calibri" pitchFamily="34" charset="-120"/>
                        </a:rPr>
                        <a:t>Adding bidirectionality alongside attention would confound the two. Separate flag, unused in reported runs.</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l" indent="0" marL="0">
                        <a:buNone/>
                      </a:pPr>
                      <a:r>
                        <a:rPr lang="en-US" sz="1100" dirty="0">
                          <a:solidFill>
                            <a:srgbClr val="3B4A7A"/>
                          </a:solidFill>
                          <a:latin typeface="Calibri" pitchFamily="34" charset="0"/>
                          <a:ea typeface="Calibri" pitchFamily="34" charset="-122"/>
                          <a:cs typeface="Calibri" pitchFamily="34" charset="-120"/>
                        </a:rPr>
                        <a:t>context into layer 1 + readout, not every layer</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l" indent="0" marL="0">
                        <a:buNone/>
                      </a:pPr>
                      <a:r>
                        <a:rPr lang="en-US" sz="1100" dirty="0">
                          <a:solidFill>
                            <a:srgbClr val="3B4A7A"/>
                          </a:solidFill>
                          <a:latin typeface="Calibri" pitchFamily="34" charset="0"/>
                          <a:ea typeface="Calibri" pitchFamily="34" charset="-122"/>
                          <a:cs typeface="Calibri" pitchFamily="34" charset="-120"/>
                        </a:rPr>
                        <a:t>Bahdanau's decoder is single-layer, so any multi-layer placement deviates; this one measured no worse.</a:t>
                      </a:r>
                      <a:endParaRPr lang="en-US" sz="11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COST</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What attention costs us</a:t>
            </a:r>
            <a:endParaRPr lang="en-US" sz="3400" dirty="0"/>
          </a:p>
        </p:txBody>
      </p:sp>
      <p:sp>
        <p:nvSpPr>
          <p:cNvPr id="4" name="Shape 2"/>
          <p:cNvSpPr/>
          <p:nvPr/>
        </p:nvSpPr>
        <p:spPr>
          <a:xfrm>
            <a:off x="548640" y="1645920"/>
            <a:ext cx="3291840" cy="1481328"/>
          </a:xfrm>
          <a:prstGeom prst="roundRect">
            <a:avLst>
              <a:gd name="adj" fmla="val 5556"/>
            </a:avLst>
          </a:prstGeom>
          <a:solidFill>
            <a:srgbClr val="EEF1F8"/>
          </a:solidFill>
          <a:ln w="12700">
            <a:solidFill>
              <a:srgbClr val="EEF1F8"/>
            </a:solidFill>
            <a:prstDash val="solid"/>
          </a:ln>
        </p:spPr>
      </p:sp>
      <p:sp>
        <p:nvSpPr>
          <p:cNvPr id="5" name="Text 3"/>
          <p:cNvSpPr txBox="1"/>
          <p:nvPr/>
        </p:nvSpPr>
        <p:spPr>
          <a:xfrm>
            <a:off x="548640" y="1792224"/>
            <a:ext cx="3291840" cy="786384"/>
          </a:xfrm>
          <a:prstGeom prst="rect">
            <a:avLst/>
          </a:prstGeom>
          <a:noFill/>
          <a:ln/>
        </p:spPr>
        <p:txBody>
          <a:bodyPr wrap="square" lIns="0" tIns="0" rIns="0" bIns="0" rtlCol="0" anchor="ctr"/>
          <a:lstStyle/>
          <a:p>
            <a:pPr algn="ctr" indent="0" marL="0">
              <a:buNone/>
            </a:pPr>
            <a:r>
              <a:rPr lang="en-US" sz="3600" b="1" dirty="0">
                <a:solidFill>
                  <a:srgbClr val="4C72B0"/>
                </a:solidFill>
                <a:latin typeface="Cambria" pitchFamily="34" charset="0"/>
                <a:ea typeface="Cambria" pitchFamily="34" charset="-122"/>
                <a:cs typeface="Cambria" pitchFamily="34" charset="-120"/>
              </a:rPr>
              <a:t>1.18×</a:t>
            </a:r>
            <a:endParaRPr lang="en-US" sz="3600" dirty="0"/>
          </a:p>
        </p:txBody>
      </p:sp>
      <p:sp>
        <p:nvSpPr>
          <p:cNvPr id="6" name="Text 4"/>
          <p:cNvSpPr txBox="1"/>
          <p:nvPr/>
        </p:nvSpPr>
        <p:spPr>
          <a:xfrm>
            <a:off x="658368" y="2587752"/>
            <a:ext cx="3072384" cy="457200"/>
          </a:xfrm>
          <a:prstGeom prst="rect">
            <a:avLst/>
          </a:prstGeom>
          <a:noFill/>
          <a:ln/>
        </p:spPr>
        <p:txBody>
          <a:bodyPr wrap="square" lIns="0" tIns="0" rIns="0" bIns="0" rtlCol="0" anchor="ctr"/>
          <a:lstStyle/>
          <a:p>
            <a:pPr algn="ctr" indent="0" marL="0">
              <a:buNone/>
            </a:pPr>
            <a:r>
              <a:rPr lang="en-US" sz="1150" dirty="0">
                <a:solidFill>
                  <a:srgbClr val="3B4A7A"/>
                </a:solidFill>
                <a:latin typeface="Calibri" pitchFamily="34" charset="0"/>
                <a:ea typeface="Calibri" pitchFamily="34" charset="-122"/>
                <a:cs typeface="Calibri" pitchFamily="34" charset="-120"/>
              </a:rPr>
              <a:t>slower per epoch</a:t>
            </a:r>
            <a:endParaRPr lang="en-US" sz="1150" dirty="0"/>
          </a:p>
          <a:p>
            <a:pPr algn="ctr" indent="0" marL="0">
              <a:buNone/>
            </a:pPr>
            <a:r>
              <a:rPr lang="en-US" sz="1150" dirty="0">
                <a:solidFill>
                  <a:srgbClr val="3B4A7A"/>
                </a:solidFill>
                <a:latin typeface="Calibri" pitchFamily="34" charset="0"/>
                <a:ea typeface="Calibri" pitchFamily="34" charset="-122"/>
                <a:cs typeface="Calibri" pitchFamily="34" charset="-120"/>
              </a:rPr>
              <a:t>(measured, make benchmark)</a:t>
            </a:r>
            <a:endParaRPr lang="en-US" sz="1150" dirty="0"/>
          </a:p>
        </p:txBody>
      </p:sp>
      <p:sp>
        <p:nvSpPr>
          <p:cNvPr id="7" name="Shape 5"/>
          <p:cNvSpPr/>
          <p:nvPr/>
        </p:nvSpPr>
        <p:spPr>
          <a:xfrm>
            <a:off x="4160520" y="1645920"/>
            <a:ext cx="3291840" cy="1481328"/>
          </a:xfrm>
          <a:prstGeom prst="roundRect">
            <a:avLst>
              <a:gd name="adj" fmla="val 5556"/>
            </a:avLst>
          </a:prstGeom>
          <a:solidFill>
            <a:srgbClr val="EEF1F8"/>
          </a:solidFill>
          <a:ln w="12700">
            <a:solidFill>
              <a:srgbClr val="EEF1F8"/>
            </a:solidFill>
            <a:prstDash val="solid"/>
          </a:ln>
        </p:spPr>
      </p:sp>
      <p:sp>
        <p:nvSpPr>
          <p:cNvPr id="8" name="Text 6"/>
          <p:cNvSpPr txBox="1"/>
          <p:nvPr/>
        </p:nvSpPr>
        <p:spPr>
          <a:xfrm>
            <a:off x="4160520" y="1792224"/>
            <a:ext cx="3291840" cy="786384"/>
          </a:xfrm>
          <a:prstGeom prst="rect">
            <a:avLst/>
          </a:prstGeom>
          <a:noFill/>
          <a:ln/>
        </p:spPr>
        <p:txBody>
          <a:bodyPr wrap="square" lIns="0" tIns="0" rIns="0" bIns="0" rtlCol="0" anchor="ctr"/>
          <a:lstStyle/>
          <a:p>
            <a:pPr algn="ctr" indent="0" marL="0">
              <a:buNone/>
            </a:pPr>
            <a:r>
              <a:rPr lang="en-US" sz="3600" b="1" dirty="0">
                <a:solidFill>
                  <a:srgbClr val="4C72B0"/>
                </a:solidFill>
                <a:latin typeface="Cambria" pitchFamily="34" charset="0"/>
                <a:ea typeface="Cambria" pitchFamily="34" charset="-122"/>
                <a:cs typeface="Cambria" pitchFamily="34" charset="-120"/>
              </a:rPr>
              <a:t>+3.6%</a:t>
            </a:r>
            <a:endParaRPr lang="en-US" sz="3600" dirty="0"/>
          </a:p>
        </p:txBody>
      </p:sp>
      <p:sp>
        <p:nvSpPr>
          <p:cNvPr id="9" name="Text 7"/>
          <p:cNvSpPr txBox="1"/>
          <p:nvPr/>
        </p:nvSpPr>
        <p:spPr>
          <a:xfrm>
            <a:off x="4270248" y="2587752"/>
            <a:ext cx="3072384" cy="457200"/>
          </a:xfrm>
          <a:prstGeom prst="rect">
            <a:avLst/>
          </a:prstGeom>
          <a:noFill/>
          <a:ln/>
        </p:spPr>
        <p:txBody>
          <a:bodyPr wrap="square" lIns="0" tIns="0" rIns="0" bIns="0" rtlCol="0" anchor="ctr"/>
          <a:lstStyle/>
          <a:p>
            <a:pPr algn="ctr" indent="0" marL="0">
              <a:buNone/>
            </a:pPr>
            <a:r>
              <a:rPr lang="en-US" sz="1150" dirty="0">
                <a:solidFill>
                  <a:srgbClr val="3B4A7A"/>
                </a:solidFill>
                <a:latin typeface="Calibri" pitchFamily="34" charset="0"/>
                <a:ea typeface="Calibri" pitchFamily="34" charset="-122"/>
                <a:cs typeface="Calibri" pitchFamily="34" charset="-120"/>
              </a:rPr>
              <a:t>parameters</a:t>
            </a:r>
            <a:endParaRPr lang="en-US" sz="1150" dirty="0"/>
          </a:p>
          <a:p>
            <a:pPr algn="ctr" indent="0" marL="0">
              <a:buNone/>
            </a:pPr>
            <a:r>
              <a:rPr lang="en-US" sz="1150" dirty="0">
                <a:solidFill>
                  <a:srgbClr val="3B4A7A"/>
                </a:solidFill>
                <a:latin typeface="Calibri" pitchFamily="34" charset="0"/>
                <a:ea typeface="Calibri" pitchFamily="34" charset="-122"/>
                <a:cs typeface="Calibri" pitchFamily="34" charset="-120"/>
              </a:rPr>
              <a:t>57.6M → 59.9M</a:t>
            </a:r>
            <a:endParaRPr lang="en-US" sz="1150" dirty="0"/>
          </a:p>
        </p:txBody>
      </p:sp>
      <p:sp>
        <p:nvSpPr>
          <p:cNvPr id="10" name="Shape 8"/>
          <p:cNvSpPr/>
          <p:nvPr/>
        </p:nvSpPr>
        <p:spPr>
          <a:xfrm>
            <a:off x="7772400" y="1645920"/>
            <a:ext cx="3291840" cy="1481328"/>
          </a:xfrm>
          <a:prstGeom prst="roundRect">
            <a:avLst>
              <a:gd name="adj" fmla="val 5556"/>
            </a:avLst>
          </a:prstGeom>
          <a:solidFill>
            <a:srgbClr val="EEF1F8"/>
          </a:solidFill>
          <a:ln w="12700">
            <a:solidFill>
              <a:srgbClr val="EEF1F8"/>
            </a:solidFill>
            <a:prstDash val="solid"/>
          </a:ln>
        </p:spPr>
      </p:sp>
      <p:sp>
        <p:nvSpPr>
          <p:cNvPr id="11" name="Text 9"/>
          <p:cNvSpPr txBox="1"/>
          <p:nvPr/>
        </p:nvSpPr>
        <p:spPr>
          <a:xfrm>
            <a:off x="7772400" y="1792224"/>
            <a:ext cx="3291840" cy="786384"/>
          </a:xfrm>
          <a:prstGeom prst="rect">
            <a:avLst/>
          </a:prstGeom>
          <a:noFill/>
          <a:ln/>
        </p:spPr>
        <p:txBody>
          <a:bodyPr wrap="square" lIns="0" tIns="0" rIns="0" bIns="0" rtlCol="0" anchor="ctr"/>
          <a:lstStyle/>
          <a:p>
            <a:pPr algn="ctr" indent="0" marL="0">
              <a:buNone/>
            </a:pPr>
            <a:r>
              <a:rPr lang="en-US" sz="3600" b="1" dirty="0">
                <a:solidFill>
                  <a:srgbClr val="3B4A7A"/>
                </a:solidFill>
                <a:latin typeface="Cambria" pitchFamily="34" charset="0"/>
                <a:ea typeface="Cambria" pitchFamily="34" charset="-122"/>
                <a:cs typeface="Cambria" pitchFamily="34" charset="-120"/>
              </a:rPr>
              <a:t>10.5 h</a:t>
            </a:r>
            <a:endParaRPr lang="en-US" sz="3600" dirty="0"/>
          </a:p>
        </p:txBody>
      </p:sp>
      <p:sp>
        <p:nvSpPr>
          <p:cNvPr id="12" name="Text 10"/>
          <p:cNvSpPr txBox="1"/>
          <p:nvPr/>
        </p:nvSpPr>
        <p:spPr>
          <a:xfrm>
            <a:off x="7882128" y="2587752"/>
            <a:ext cx="3072384" cy="457200"/>
          </a:xfrm>
          <a:prstGeom prst="rect">
            <a:avLst/>
          </a:prstGeom>
          <a:noFill/>
          <a:ln/>
        </p:spPr>
        <p:txBody>
          <a:bodyPr wrap="square" lIns="0" tIns="0" rIns="0" bIns="0" rtlCol="0" anchor="ctr"/>
          <a:lstStyle/>
          <a:p>
            <a:pPr algn="ctr" indent="0" marL="0">
              <a:buNone/>
            </a:pPr>
            <a:r>
              <a:rPr lang="en-US" sz="1150" dirty="0">
                <a:solidFill>
                  <a:srgbClr val="3B4A7A"/>
                </a:solidFill>
                <a:latin typeface="Calibri" pitchFamily="34" charset="0"/>
                <a:ea typeface="Calibri" pitchFamily="34" charset="-122"/>
                <a:cs typeface="Calibri" pitchFamily="34" charset="-120"/>
              </a:rPr>
              <a:t>both WMT arms</a:t>
            </a:r>
            <a:endParaRPr lang="en-US" sz="1150" dirty="0"/>
          </a:p>
          <a:p>
            <a:pPr algn="ctr" indent="0" marL="0">
              <a:buNone/>
            </a:pPr>
            <a:r>
              <a:rPr lang="en-US" sz="1150" dirty="0">
                <a:solidFill>
                  <a:srgbClr val="3B4A7A"/>
                </a:solidFill>
                <a:latin typeface="Calibri" pitchFamily="34" charset="0"/>
                <a:ea typeface="Calibri" pitchFamily="34" charset="-122"/>
                <a:cs typeface="Calibri" pitchFamily="34" charset="-120"/>
              </a:rPr>
              <a:t>on one M1 Pro GPU</a:t>
            </a:r>
            <a:endParaRPr lang="en-US" sz="1150" dirty="0"/>
          </a:p>
        </p:txBody>
      </p:sp>
      <p:sp>
        <p:nvSpPr>
          <p:cNvPr id="13" name="Text 11"/>
          <p:cNvSpPr txBox="1"/>
          <p:nvPr/>
        </p:nvSpPr>
        <p:spPr>
          <a:xfrm>
            <a:off x="548640" y="3429000"/>
            <a:ext cx="11064240" cy="21031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The context enters the recurrence, so timesteps can no longer be one fused LSTM call — the decoder loop is ~3× slower in isolation.</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But the decoder is a small share of a training step: the 32k-word softmax dominates. So it dilutes to 1.18× end to end.</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The small parameter delta matters for the argument — the arms' BLEU gap cannot be waved away as extra capacity.</a:t>
            </a:r>
            <a:endParaRPr lang="en-US" sz="1400" dirty="0"/>
          </a:p>
        </p:txBody>
      </p:sp>
      <p:sp>
        <p:nvSpPr>
          <p:cNvPr id="14" name="Text 12"/>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Measured with the same instrument as the mid-term's throughput table, at the end-term's batch and length distribution.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CORRECTNESS</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Before any result: did we break the mid-term?</a:t>
            </a:r>
            <a:endParaRPr lang="en-US" sz="3400" dirty="0"/>
          </a:p>
        </p:txBody>
      </p:sp>
      <p:sp>
        <p:nvSpPr>
          <p:cNvPr id="4" name="Shape 2"/>
          <p:cNvSpPr/>
          <p:nvPr/>
        </p:nvSpPr>
        <p:spPr>
          <a:xfrm>
            <a:off x="548640" y="1554480"/>
            <a:ext cx="11064240" cy="841248"/>
          </a:xfrm>
          <a:prstGeom prst="roundRect">
            <a:avLst>
              <a:gd name="adj" fmla="val 9783"/>
            </a:avLst>
          </a:prstGeom>
          <a:solidFill>
            <a:srgbClr val="EAF6EE"/>
          </a:solidFill>
          <a:ln w="12700">
            <a:solidFill>
              <a:srgbClr val="2F7A4F"/>
            </a:solidFill>
            <a:prstDash val="solid"/>
          </a:ln>
        </p:spPr>
      </p:sp>
      <p:sp>
        <p:nvSpPr>
          <p:cNvPr id="5" name="Text 3"/>
          <p:cNvSpPr txBox="1"/>
          <p:nvPr/>
        </p:nvSpPr>
        <p:spPr>
          <a:xfrm>
            <a:off x="822960" y="1783080"/>
            <a:ext cx="10515600" cy="411480"/>
          </a:xfrm>
          <a:prstGeom prst="rect">
            <a:avLst/>
          </a:prstGeom>
          <a:noFill/>
          <a:ln/>
        </p:spPr>
        <p:txBody>
          <a:bodyPr wrap="square" lIns="0" tIns="0" rIns="0" bIns="0" rtlCol="0" anchor="ctr"/>
          <a:lstStyle/>
          <a:p>
            <a:pPr indent="0" marL="0">
              <a:buNone/>
            </a:pPr>
            <a:r>
              <a:rPr lang="en-US" sz="1500" b="1" dirty="0">
                <a:solidFill>
                  <a:srgbClr val="1E5B38"/>
                </a:solidFill>
                <a:latin typeface="Calibri" pitchFamily="34" charset="0"/>
                <a:ea typeface="Calibri" pitchFamily="34" charset="-122"/>
                <a:cs typeface="Calibri" pitchFamily="34" charset="-120"/>
              </a:rPr>
              <a:t>make baseline-regression  →  hypotheses byte-identical on all 3,003 sentences, both directions</a:t>
            </a:r>
            <a:endParaRPr lang="en-US" sz="1500" dirty="0"/>
          </a:p>
        </p:txBody>
      </p:sp>
      <p:sp>
        <p:nvSpPr>
          <p:cNvPr id="6" name="Text 4"/>
          <p:cNvSpPr txBox="1"/>
          <p:nvPr/>
        </p:nvSpPr>
        <p:spPr>
          <a:xfrm>
            <a:off x="548640" y="2560320"/>
            <a:ext cx="11064240" cy="301752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3B4A7A"/>
                </a:solidFill>
                <a:latin typeface="Calibri" pitchFamily="34" charset="0"/>
                <a:ea typeface="Calibri" pitchFamily="34" charset="-122"/>
                <a:cs typeface="Calibri" pitchFamily="34" charset="-120"/>
              </a:rPr>
              <a:t>Attention meant changing the encoder and beam search — the code that produced the submitted mid-term. So we re-decode the submitted checkpoints and diff against the committed hypotheses. Decoding is deterministic, so the diff must be EMPTY — much sharper than "BLEU still rounds to 6.60".</a:t>
            </a:r>
            <a:endParaRPr lang="en-US" sz="1350" dirty="0"/>
          </a:p>
          <a:p>
            <a:pPr marL="342900" indent="-342900">
              <a:spcAft>
                <a:spcPts val="900"/>
              </a:spcAft>
              <a:buSzPct val="100000"/>
              <a:buChar char="•"/>
            </a:pPr>
            <a:r>
              <a:rPr lang="en-US" sz="1350" dirty="0">
                <a:solidFill>
                  <a:srgbClr val="3B4A7A"/>
                </a:solidFill>
                <a:latin typeface="Calibri" pitchFamily="34" charset="0"/>
                <a:ea typeface="Calibri" pitchFamily="34" charset="-122"/>
                <a:cs typeface="Calibri" pitchFamily="34" charset="-120"/>
              </a:rPr>
              <a:t>52 gates total: 23 from the mid-term, unchanged and still green, plus 29 new.</a:t>
            </a:r>
            <a:endParaRPr lang="en-US" sz="1350" dirty="0"/>
          </a:p>
          <a:p>
            <a:pPr marL="342900" indent="-342900">
              <a:spcAft>
                <a:spcPts val="900"/>
              </a:spcAft>
              <a:buSzPct val="100000"/>
              <a:buChar char="•"/>
            </a:pPr>
            <a:r>
              <a:rPr lang="en-US" sz="1350" dirty="0">
                <a:solidFill>
                  <a:srgbClr val="3B4A7A"/>
                </a:solidFill>
                <a:latin typeface="Calibri" pitchFamily="34" charset="0"/>
                <a:ea typeface="Calibri" pitchFamily="34" charset="-122"/>
                <a:cs typeface="Calibri" pitchFamily="34" charset="-120"/>
              </a:rPr>
              <a:t>Alignments sum to 1 and are EXACTLY 0 on padding (the source is always padded).</a:t>
            </a:r>
            <a:endParaRPr lang="en-US" sz="1350" dirty="0"/>
          </a:p>
          <a:p>
            <a:pPr marL="342900" indent="-342900">
              <a:spcAft>
                <a:spcPts val="900"/>
              </a:spcAft>
              <a:buSzPct val="100000"/>
              <a:buChar char="•"/>
            </a:pPr>
            <a:r>
              <a:rPr lang="en-US" sz="1350" dirty="0">
                <a:solidFill>
                  <a:srgbClr val="3B4A7A"/>
                </a:solidFill>
                <a:latin typeface="Calibri" pitchFamily="34" charset="0"/>
                <a:ea typeface="Calibri" pitchFamily="34" charset="-122"/>
                <a:cs typeface="Calibri" pitchFamily="34" charset="-120"/>
              </a:rPr>
              <a:t>Teacher-forced training and step-by-step decoding agree to 1e-6.</a:t>
            </a:r>
            <a:endParaRPr lang="en-US" sz="1350" dirty="0"/>
          </a:p>
          <a:p>
            <a:pPr marL="342900" indent="-342900">
              <a:spcAft>
                <a:spcPts val="900"/>
              </a:spcAft>
              <a:buSzPct val="100000"/>
              <a:buChar char="•"/>
            </a:pPr>
            <a:r>
              <a:rPr lang="en-US" sz="1350" dirty="0">
                <a:solidFill>
                  <a:srgbClr val="3B4A7A"/>
                </a:solidFill>
                <a:latin typeface="Calibri" pitchFamily="34" charset="0"/>
                <a:ea typeface="Calibri" pitchFamily="34" charset="-122"/>
                <a:cs typeface="Calibri" pitchFamily="34" charset="-120"/>
              </a:rPr>
              <a:t>MPS and CPU agree on loss and every gradient to 1e-3 — attention adds new Metal kernels.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SANITY CHECK</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The bottleneck in miniature</a:t>
            </a:r>
            <a:endParaRPr lang="en-US" sz="3400" dirty="0"/>
          </a:p>
        </p:txBody>
      </p:sp>
      <p:sp>
        <p:nvSpPr>
          <p:cNvPr id="4" name="Text 2"/>
          <p:cNvSpPr txBox="1"/>
          <p:nvPr/>
        </p:nvSpPr>
        <p:spPr>
          <a:xfrm>
            <a:off x="548640" y="1463040"/>
            <a:ext cx="11064240" cy="411480"/>
          </a:xfrm>
          <a:prstGeom prst="rect">
            <a:avLst/>
          </a:prstGeom>
          <a:noFill/>
          <a:ln/>
        </p:spPr>
        <p:txBody>
          <a:bodyPr wrap="square" lIns="0" tIns="0" rIns="0" bIns="0" rtlCol="0" anchor="ctr"/>
          <a:lstStyle/>
          <a:p>
            <a:pPr indent="0" marL="0">
              <a:buNone/>
            </a:pPr>
            <a:r>
              <a:rPr lang="en-US" sz="1500" dirty="0">
                <a:solidFill>
                  <a:srgbClr val="3B4A7A"/>
                </a:solidFill>
                <a:latin typeface="Calibri" pitchFamily="34" charset="0"/>
                <a:ea typeface="Calibri" pitchFamily="34" charset="-122"/>
                <a:cs typeface="Calibri" pitchFamily="34" charset="-120"/>
              </a:rPr>
              <a:t>Target = source, over random tokens. Nothing is memorisable, so emitting position t REQUIRES reading source position t.</a:t>
            </a:r>
            <a:endParaRPr lang="en-US" sz="1500" dirty="0"/>
          </a:p>
        </p:txBody>
      </p:sp>
      <p:sp>
        <p:nvSpPr>
          <p:cNvPr id="5" name="Shape 3"/>
          <p:cNvSpPr/>
          <p:nvPr/>
        </p:nvSpPr>
        <p:spPr>
          <a:xfrm>
            <a:off x="548640" y="2011680"/>
            <a:ext cx="3017520" cy="1481328"/>
          </a:xfrm>
          <a:prstGeom prst="roundRect">
            <a:avLst>
              <a:gd name="adj" fmla="val 5556"/>
            </a:avLst>
          </a:prstGeom>
          <a:solidFill>
            <a:srgbClr val="EEF1F8"/>
          </a:solidFill>
          <a:ln w="12700">
            <a:solidFill>
              <a:srgbClr val="EEF1F8"/>
            </a:solidFill>
            <a:prstDash val="solid"/>
          </a:ln>
        </p:spPr>
      </p:sp>
      <p:sp>
        <p:nvSpPr>
          <p:cNvPr id="6" name="Text 4"/>
          <p:cNvSpPr txBox="1"/>
          <p:nvPr/>
        </p:nvSpPr>
        <p:spPr>
          <a:xfrm>
            <a:off x="548640" y="2157984"/>
            <a:ext cx="3017520" cy="786384"/>
          </a:xfrm>
          <a:prstGeom prst="rect">
            <a:avLst/>
          </a:prstGeom>
          <a:noFill/>
          <a:ln/>
        </p:spPr>
        <p:txBody>
          <a:bodyPr wrap="square" lIns="0" tIns="0" rIns="0" bIns="0" rtlCol="0" anchor="ctr"/>
          <a:lstStyle/>
          <a:p>
            <a:pPr algn="ctr" indent="0" marL="0">
              <a:buNone/>
            </a:pPr>
            <a:r>
              <a:rPr lang="en-US" sz="3600" b="1" dirty="0">
                <a:solidFill>
                  <a:srgbClr val="C44E52"/>
                </a:solidFill>
                <a:latin typeface="Cambria" pitchFamily="34" charset="0"/>
                <a:ea typeface="Cambria" pitchFamily="34" charset="-122"/>
                <a:cs typeface="Cambria" pitchFamily="34" charset="-120"/>
              </a:rPr>
              <a:t>4.88</a:t>
            </a:r>
            <a:endParaRPr lang="en-US" sz="3600" dirty="0"/>
          </a:p>
        </p:txBody>
      </p:sp>
      <p:sp>
        <p:nvSpPr>
          <p:cNvPr id="7" name="Text 5"/>
          <p:cNvSpPr txBox="1"/>
          <p:nvPr/>
        </p:nvSpPr>
        <p:spPr>
          <a:xfrm>
            <a:off x="658368" y="2953512"/>
            <a:ext cx="2798064" cy="457200"/>
          </a:xfrm>
          <a:prstGeom prst="rect">
            <a:avLst/>
          </a:prstGeom>
          <a:noFill/>
          <a:ln/>
        </p:spPr>
        <p:txBody>
          <a:bodyPr wrap="square" lIns="0" tIns="0" rIns="0" bIns="0" rtlCol="0" anchor="ctr"/>
          <a:lstStyle/>
          <a:p>
            <a:pPr algn="ctr" indent="0" marL="0">
              <a:buNone/>
            </a:pPr>
            <a:r>
              <a:rPr lang="en-US" sz="1150" dirty="0">
                <a:solidFill>
                  <a:srgbClr val="3B4A7A"/>
                </a:solidFill>
                <a:latin typeface="Calibri" pitchFamily="34" charset="0"/>
                <a:ea typeface="Calibri" pitchFamily="34" charset="-122"/>
                <a:cs typeface="Calibri" pitchFamily="34" charset="-120"/>
              </a:rPr>
              <a:t>fixed vector</a:t>
            </a:r>
            <a:endParaRPr lang="en-US" sz="1150" dirty="0"/>
          </a:p>
          <a:p>
            <a:pPr algn="ctr" indent="0" marL="0">
              <a:buNone/>
            </a:pPr>
            <a:r>
              <a:rPr lang="en-US" sz="1150" dirty="0">
                <a:solidFill>
                  <a:srgbClr val="3B4A7A"/>
                </a:solidFill>
                <a:latin typeface="Calibri" pitchFamily="34" charset="0"/>
                <a:ea typeface="Calibri" pitchFamily="34" charset="-122"/>
                <a:cs typeface="Calibri" pitchFamily="34" charset="-120"/>
              </a:rPr>
              <a:t>loss / sequence</a:t>
            </a:r>
            <a:endParaRPr lang="en-US" sz="1150" dirty="0"/>
          </a:p>
        </p:txBody>
      </p:sp>
      <p:sp>
        <p:nvSpPr>
          <p:cNvPr id="8" name="Shape 6"/>
          <p:cNvSpPr/>
          <p:nvPr/>
        </p:nvSpPr>
        <p:spPr>
          <a:xfrm>
            <a:off x="3840480" y="2011680"/>
            <a:ext cx="3017520" cy="1481328"/>
          </a:xfrm>
          <a:prstGeom prst="roundRect">
            <a:avLst>
              <a:gd name="adj" fmla="val 5556"/>
            </a:avLst>
          </a:prstGeom>
          <a:solidFill>
            <a:srgbClr val="EEF1F8"/>
          </a:solidFill>
          <a:ln w="12700">
            <a:solidFill>
              <a:srgbClr val="EEF1F8"/>
            </a:solidFill>
            <a:prstDash val="solid"/>
          </a:ln>
        </p:spPr>
      </p:sp>
      <p:sp>
        <p:nvSpPr>
          <p:cNvPr id="9" name="Text 7"/>
          <p:cNvSpPr txBox="1"/>
          <p:nvPr/>
        </p:nvSpPr>
        <p:spPr>
          <a:xfrm>
            <a:off x="3840480" y="2157984"/>
            <a:ext cx="3017520" cy="786384"/>
          </a:xfrm>
          <a:prstGeom prst="rect">
            <a:avLst/>
          </a:prstGeom>
          <a:noFill/>
          <a:ln/>
        </p:spPr>
        <p:txBody>
          <a:bodyPr wrap="square" lIns="0" tIns="0" rIns="0" bIns="0" rtlCol="0" anchor="ctr"/>
          <a:lstStyle/>
          <a:p>
            <a:pPr algn="ctr" indent="0" marL="0">
              <a:buNone/>
            </a:pPr>
            <a:r>
              <a:rPr lang="en-US" sz="3600" b="1" dirty="0">
                <a:solidFill>
                  <a:srgbClr val="4C72B0"/>
                </a:solidFill>
                <a:latin typeface="Cambria" pitchFamily="34" charset="0"/>
                <a:ea typeface="Cambria" pitchFamily="34" charset="-122"/>
                <a:cs typeface="Cambria" pitchFamily="34" charset="-120"/>
              </a:rPr>
              <a:t>0.00</a:t>
            </a:r>
            <a:endParaRPr lang="en-US" sz="3600" dirty="0"/>
          </a:p>
        </p:txBody>
      </p:sp>
      <p:sp>
        <p:nvSpPr>
          <p:cNvPr id="10" name="Text 8"/>
          <p:cNvSpPr txBox="1"/>
          <p:nvPr/>
        </p:nvSpPr>
        <p:spPr>
          <a:xfrm>
            <a:off x="3950208" y="2953512"/>
            <a:ext cx="2798064" cy="457200"/>
          </a:xfrm>
          <a:prstGeom prst="rect">
            <a:avLst/>
          </a:prstGeom>
          <a:noFill/>
          <a:ln/>
        </p:spPr>
        <p:txBody>
          <a:bodyPr wrap="square" lIns="0" tIns="0" rIns="0" bIns="0" rtlCol="0" anchor="ctr"/>
          <a:lstStyle/>
          <a:p>
            <a:pPr algn="ctr" indent="0" marL="0">
              <a:buNone/>
            </a:pPr>
            <a:r>
              <a:rPr lang="en-US" sz="1150" dirty="0">
                <a:solidFill>
                  <a:srgbClr val="3B4A7A"/>
                </a:solidFill>
                <a:latin typeface="Calibri" pitchFamily="34" charset="0"/>
                <a:ea typeface="Calibri" pitchFamily="34" charset="-122"/>
                <a:cs typeface="Calibri" pitchFamily="34" charset="-120"/>
              </a:rPr>
              <a:t>+ attention</a:t>
            </a:r>
            <a:endParaRPr lang="en-US" sz="1150" dirty="0"/>
          </a:p>
          <a:p>
            <a:pPr algn="ctr" indent="0" marL="0">
              <a:buNone/>
            </a:pPr>
            <a:r>
              <a:rPr lang="en-US" sz="1150" dirty="0">
                <a:solidFill>
                  <a:srgbClr val="3B4A7A"/>
                </a:solidFill>
                <a:latin typeface="Calibri" pitchFamily="34" charset="0"/>
                <a:ea typeface="Calibri" pitchFamily="34" charset="-122"/>
                <a:cs typeface="Calibri" pitchFamily="34" charset="-120"/>
              </a:rPr>
              <a:t>loss / sequence</a:t>
            </a:r>
            <a:endParaRPr lang="en-US" sz="1150" dirty="0"/>
          </a:p>
        </p:txBody>
      </p:sp>
      <p:sp>
        <p:nvSpPr>
          <p:cNvPr id="11" name="Shape 9"/>
          <p:cNvSpPr/>
          <p:nvPr/>
        </p:nvSpPr>
        <p:spPr>
          <a:xfrm>
            <a:off x="7132320" y="2011680"/>
            <a:ext cx="3017520" cy="1481328"/>
          </a:xfrm>
          <a:prstGeom prst="roundRect">
            <a:avLst>
              <a:gd name="adj" fmla="val 5556"/>
            </a:avLst>
          </a:prstGeom>
          <a:solidFill>
            <a:srgbClr val="EEF1F8"/>
          </a:solidFill>
          <a:ln w="12700">
            <a:solidFill>
              <a:srgbClr val="EEF1F8"/>
            </a:solidFill>
            <a:prstDash val="solid"/>
          </a:ln>
        </p:spPr>
      </p:sp>
      <p:sp>
        <p:nvSpPr>
          <p:cNvPr id="12" name="Text 10"/>
          <p:cNvSpPr txBox="1"/>
          <p:nvPr/>
        </p:nvSpPr>
        <p:spPr>
          <a:xfrm>
            <a:off x="7132320" y="2157984"/>
            <a:ext cx="3017520" cy="786384"/>
          </a:xfrm>
          <a:prstGeom prst="rect">
            <a:avLst/>
          </a:prstGeom>
          <a:noFill/>
          <a:ln/>
        </p:spPr>
        <p:txBody>
          <a:bodyPr wrap="square" lIns="0" tIns="0" rIns="0" bIns="0" rtlCol="0" anchor="ctr"/>
          <a:lstStyle/>
          <a:p>
            <a:pPr algn="ctr" indent="0" marL="0">
              <a:buNone/>
            </a:pPr>
            <a:r>
              <a:rPr lang="en-US" sz="3600" b="1" dirty="0">
                <a:solidFill>
                  <a:srgbClr val="6B7280"/>
                </a:solidFill>
                <a:latin typeface="Cambria" pitchFamily="34" charset="0"/>
                <a:ea typeface="Cambria" pitchFamily="34" charset="-122"/>
                <a:cs typeface="Cambria" pitchFamily="34" charset="-120"/>
              </a:rPr>
              <a:t>28.60</a:t>
            </a:r>
            <a:endParaRPr lang="en-US" sz="3600" dirty="0"/>
          </a:p>
        </p:txBody>
      </p:sp>
      <p:sp>
        <p:nvSpPr>
          <p:cNvPr id="13" name="Text 11"/>
          <p:cNvSpPr txBox="1"/>
          <p:nvPr/>
        </p:nvSpPr>
        <p:spPr>
          <a:xfrm>
            <a:off x="7242048" y="2953512"/>
            <a:ext cx="2798064" cy="457200"/>
          </a:xfrm>
          <a:prstGeom prst="rect">
            <a:avLst/>
          </a:prstGeom>
          <a:noFill/>
          <a:ln/>
        </p:spPr>
        <p:txBody>
          <a:bodyPr wrap="square" lIns="0" tIns="0" rIns="0" bIns="0" rtlCol="0" anchor="ctr"/>
          <a:lstStyle/>
          <a:p>
            <a:pPr algn="ctr" indent="0" marL="0">
              <a:buNone/>
            </a:pPr>
            <a:r>
              <a:rPr lang="en-US" sz="1150" dirty="0">
                <a:solidFill>
                  <a:srgbClr val="3B4A7A"/>
                </a:solidFill>
                <a:latin typeface="Calibri" pitchFamily="34" charset="0"/>
                <a:ea typeface="Calibri" pitchFamily="34" charset="-122"/>
                <a:cs typeface="Calibri" pitchFamily="34" charset="-120"/>
              </a:rPr>
              <a:t>chance</a:t>
            </a:r>
            <a:endParaRPr lang="en-US" sz="1150" dirty="0"/>
          </a:p>
        </p:txBody>
      </p:sp>
      <p:pic>
        <p:nvPicPr>
          <p:cNvPr id="14" name="Image 0" descr="/Users/rubenstalin/Library/Mobile Documents/com~apple~CloudDocs/Sem 7/Intro to ML/seq2seq-ee5180/results/copy_task/copy_task_alignment.png">    </p:cNvPr>
          <p:cNvPicPr>
            <a:picLocks noChangeAspect="1"/>
          </p:cNvPicPr>
          <p:nvPr/>
        </p:nvPicPr>
        <p:blipFill>
          <a:blip r:embed="rId1"/>
          <a:srcRect l="0" r="0" t="0" b="0"/>
          <a:stretch/>
        </p:blipFill>
        <p:spPr>
          <a:xfrm>
            <a:off x="6949440" y="3657600"/>
            <a:ext cx="4663440" cy="2468880"/>
          </a:xfrm>
          <a:prstGeom prst="rect">
            <a:avLst/>
          </a:prstGeom>
        </p:spPr>
      </p:pic>
      <p:sp>
        <p:nvSpPr>
          <p:cNvPr id="15" name="Text 12"/>
          <p:cNvSpPr txBox="1"/>
          <p:nvPr/>
        </p:nvSpPr>
        <p:spPr>
          <a:xfrm>
            <a:off x="548640" y="3749040"/>
            <a:ext cx="5852160" cy="21031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The fixed vector cannot solve a task that is purely about reading the right source position.</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Attention solves it and learns the exact diagonal.</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One minute, no corpus — run before committing a night to WMT.</a:t>
            </a:r>
            <a:endParaRPr lang="en-US" sz="1400" dirty="0"/>
          </a:p>
        </p:txBody>
      </p:sp>
      <p:sp>
        <p:nvSpPr>
          <p:cNvPr id="16" name="Text 13"/>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Adam, not the paper's SGD: a controlled demonstration, not a reported reproduction. Stated rather than buried.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WMT'14 En→Fr — the paper's own newstest2014</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5120640"/>
                <a:gridCol w="2011680"/>
                <a:gridCol w="2011680"/>
                <a:gridCol w="1920240"/>
              </a:tblGrid>
              <a:tr h="31089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Arm (beam 12)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BLEU (tok)</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BLEU (detok)</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ppl</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reversed, fixed vector</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6.36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4.62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24.067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reversed, + attention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18.49</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14.99</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10.690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
        <p:nvSpPr>
          <p:cNvPr id="5" name="Text 2"/>
          <p:cNvSpPr txBox="1"/>
          <p:nvPr/>
        </p:nvSpPr>
        <p:spPr>
          <a:xfrm>
            <a:off x="548640" y="2816352"/>
            <a:ext cx="11064240" cy="18288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Reversed: fixed vector 6.36 → attention 18.49 (+12.13 BLEU).</a:t>
            </a:r>
            <a:endParaRPr lang="en-US" sz="1400" dirty="0"/>
          </a:p>
        </p:txBody>
      </p:sp>
      <p:sp>
        <p:nvSpPr>
          <p:cNvPr id="6" name="Text 3"/>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500k pairs vs the paper's 12M; 2×512 vs 4×1000. Absolute BLEU is NOT comparable to Table 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Multi30k — 3 seeds, the full 2×2 grid</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5120640"/>
                <a:gridCol w="2011680"/>
                <a:gridCol w="2011680"/>
                <a:gridCol w="1920240"/>
              </a:tblGrid>
              <a:tr h="31089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Arm (beam 12)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BLEU (tok)</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BLEU (detok)</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ppl</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forward, fixed vector</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C44E52"/>
                          </a:solidFill>
                          <a:latin typeface="Calibri" pitchFamily="34" charset="0"/>
                          <a:ea typeface="Calibri" pitchFamily="34" charset="-122"/>
                          <a:cs typeface="Calibri" pitchFamily="34" charset="-120"/>
                        </a:rPr>
                        <a:t>2.61</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2.26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15.103</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forward, + attention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C44E52"/>
                          </a:solidFill>
                          <a:latin typeface="Calibri" pitchFamily="34" charset="0"/>
                          <a:ea typeface="Calibri" pitchFamily="34" charset="-122"/>
                          <a:cs typeface="Calibri" pitchFamily="34" charset="-120"/>
                        </a:rPr>
                        <a:t>23.90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23.17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6.282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reversed, fixed vector</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15.35</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14.96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9.014</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310896">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reversed, + attention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27.99</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27.16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5.677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
        <p:nvSpPr>
          <p:cNvPr id="5" name="Text 2"/>
          <p:cNvSpPr txBox="1"/>
          <p:nvPr/>
        </p:nvSpPr>
        <p:spPr>
          <a:xfrm>
            <a:off x="548640" y="3474720"/>
            <a:ext cx="11064240" cy="18288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Forward: fixed vector 2.61 → attention 23.90 (+21.29 BLEU).</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Reversed: fixed vector 15.35 → attention 27.99 (+12.64 BLEU).</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The REVERSAL GAP is +12.74 without attention and +4.09 with it — attention absorbs the paper's trick.</a:t>
            </a:r>
            <a:endParaRPr lang="en-US" sz="1400" dirty="0"/>
          </a:p>
        </p:txBody>
      </p:sp>
      <p:sp>
        <p:nvSpPr>
          <p:cNvPr id="6" name="Text 3"/>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29k image captions, 2×256 — not the paper's corpus or test set, but the only tier where we can afford error bars.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THE RESULT</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The actual claim: the SHAPE of the curve</a:t>
            </a:r>
            <a:endParaRPr lang="en-US" sz="3400" dirty="0"/>
          </a:p>
        </p:txBody>
      </p:sp>
      <p:sp>
        <p:nvSpPr>
          <p:cNvPr id="4" name="Text 2"/>
          <p:cNvSpPr txBox="1"/>
          <p:nvPr/>
        </p:nvSpPr>
        <p:spPr>
          <a:xfrm>
            <a:off x="548640" y="1463040"/>
            <a:ext cx="11064240" cy="457200"/>
          </a:xfrm>
          <a:prstGeom prst="rect">
            <a:avLst/>
          </a:prstGeom>
          <a:noFill/>
          <a:ln/>
        </p:spPr>
        <p:txBody>
          <a:bodyPr wrap="square" lIns="0" tIns="0" rIns="0" bIns="0" rtlCol="0" anchor="ctr"/>
          <a:lstStyle/>
          <a:p>
            <a:pPr indent="0" marL="0">
              <a:buNone/>
            </a:pPr>
            <a:r>
              <a:rPr lang="en-US" sz="1500" dirty="0">
                <a:solidFill>
                  <a:srgbClr val="3B4A7A"/>
                </a:solidFill>
                <a:latin typeface="Calibri" pitchFamily="34" charset="0"/>
                <a:ea typeface="Calibri" pitchFamily="34" charset="-122"/>
                <a:cs typeface="Calibri" pitchFamily="34" charset="-120"/>
              </a:rPr>
              <a:t>Not "attention scores higher" — a better model would do that. The claim is that a FIXED-WIDTH vector degrades as sentences grow, and attention does not.</a:t>
            </a:r>
            <a:endParaRPr lang="en-US" sz="1500" dirty="0"/>
          </a:p>
        </p:txBody>
      </p:sp>
      <p:pic>
        <p:nvPicPr>
          <p:cNvPr id="5" name="Image 0" descr="/Users/rubenstalin/Library/Mobile Documents/com~apple~CloudDocs/Sem 7/Intro to ML/seq2seq-ee5180/results/wmt14_endterm/bottleneck_by_length.png">    </p:cNvPr>
          <p:cNvPicPr>
            <a:picLocks noChangeAspect="1"/>
          </p:cNvPicPr>
          <p:nvPr/>
        </p:nvPicPr>
        <p:blipFill>
          <a:blip r:embed="rId1"/>
          <a:srcRect l="0" r="0" t="0" b="0"/>
          <a:stretch/>
        </p:blipFill>
        <p:spPr>
          <a:xfrm>
            <a:off x="548640" y="2057400"/>
            <a:ext cx="5486400" cy="3566160"/>
          </a:xfrm>
          <a:prstGeom prst="rect">
            <a:avLst/>
          </a:prstGeom>
        </p:spPr>
      </p:pic>
      <p:pic>
        <p:nvPicPr>
          <p:cNvPr id="6" name="Image 1" descr="/Users/rubenstalin/Library/Mobile Documents/com~apple~CloudDocs/Sem 7/Intro to ML/seq2seq-ee5180/results/multi30k_endterm/bottleneck_by_length.png">    </p:cNvPr>
          <p:cNvPicPr>
            <a:picLocks noChangeAspect="1"/>
          </p:cNvPicPr>
          <p:nvPr/>
        </p:nvPicPr>
        <p:blipFill>
          <a:blip r:embed="rId2"/>
          <a:srcRect l="0" r="0" t="0" b="0"/>
          <a:stretch/>
        </p:blipFill>
        <p:spPr>
          <a:xfrm>
            <a:off x="6217920" y="2057400"/>
            <a:ext cx="5486400" cy="3566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THE NULL RESULT</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Where the curve does NOT show it — and why</a:t>
            </a:r>
            <a:endParaRPr lang="en-US" sz="3400" dirty="0"/>
          </a:p>
        </p:txBody>
      </p:sp>
      <p:sp>
        <p:nvSpPr>
          <p:cNvPr id="4" name="Text 2"/>
          <p:cNvSpPr txBox="1"/>
          <p:nvPr/>
        </p:nvSpPr>
        <p:spPr>
          <a:xfrm>
            <a:off x="548640" y="1444752"/>
            <a:ext cx="11064240" cy="457200"/>
          </a:xfrm>
          <a:prstGeom prst="rect">
            <a:avLst/>
          </a:prstGeom>
          <a:noFill/>
          <a:ln/>
        </p:spPr>
        <p:txBody>
          <a:bodyPr wrap="square" lIns="0" tIns="0" rIns="0" bIns="0" rtlCol="0" anchor="ctr"/>
          <a:lstStyle/>
          <a:p>
            <a:pPr indent="0" marL="0">
              <a:buNone/>
            </a:pPr>
            <a:r>
              <a:rPr lang="en-US" sz="1500" dirty="0">
                <a:solidFill>
                  <a:srgbClr val="3B4A7A"/>
                </a:solidFill>
                <a:latin typeface="Calibri" pitchFamily="34" charset="0"/>
                <a:ea typeface="Calibri" pitchFamily="34" charset="-122"/>
                <a:cs typeface="Calibri" pitchFamily="34" charset="-120"/>
              </a:rPr>
              <a:t>Same code, same flag, same grid. On Multi30k the length curve does not evidence the bottleneck. Reporting that is the point: the claim is about long sources, and Multi30k has none.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743200"/>
                <a:gridCol w="1737360"/>
                <a:gridCol w="1737360"/>
                <a:gridCol w="3017520"/>
                <a:gridCol w="1819656"/>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longest bucket</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sentences in it</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attention's gain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45720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Multi30k (captions)</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21-30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13.87 at 1-10  →  2.43 at 21-30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C44E52"/>
                          </a:solidFill>
                          <a:latin typeface="Calibri" pitchFamily="34" charset="0"/>
                          <a:ea typeface="Calibri" pitchFamily="34" charset="-122"/>
                          <a:cs typeface="Calibri" pitchFamily="34" charset="-120"/>
                        </a:rPr>
                        <a:t>does NOT widen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45720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WMT'14 (news)</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51-70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5.11 at 1-10  →  15.20 at 51-70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2F7A4F"/>
                          </a:solidFill>
                          <a:latin typeface="Calibri" pitchFamily="34" charset="0"/>
                          <a:ea typeface="Calibri" pitchFamily="34" charset="-122"/>
                          <a:cs typeface="Calibri" pitchFamily="34" charset="-120"/>
                        </a:rPr>
                        <a:t>widens with length</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
        <p:nvSpPr>
          <p:cNvPr id="6" name="Text 3"/>
          <p:cNvSpPr txBox="1"/>
          <p:nvPr/>
        </p:nvSpPr>
        <p:spPr>
          <a:xfrm>
            <a:off x="548640" y="3200400"/>
            <a:ext cx="11064240" cy="22860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Multi30k is image captions: its longest bucket is 21-30 tokens and holds 52 of 1,000 sentences. There is nothing past 30 tokens to bottleneck.</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So its arm-level gain is real, but it is NOT explained by source length — a 13-token caption fits in 2,048 numbers either way.</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WMT'14 reaches 70 tokens, which is the only tier here where a fixed vector is actually under pressure — and there the gain widens monotonically.</a:t>
            </a:r>
            <a:endParaRPr lang="en-US" sz="1400" dirty="0"/>
          </a:p>
          <a:p>
            <a:pPr marL="342900" indent="-342900">
              <a:spcAft>
                <a:spcPts val="900"/>
              </a:spcAft>
              <a:buSzPct val="100000"/>
              <a:buChar char="•"/>
            </a:pPr>
            <a:r>
              <a:rPr lang="en-US" sz="1400" dirty="0">
                <a:solidFill>
                  <a:srgbClr val="3B4A7A"/>
                </a:solidFill>
                <a:latin typeface="Calibri" pitchFamily="34" charset="0"/>
                <a:ea typeface="Calibri" pitchFamily="34" charset="-122"/>
                <a:cs typeface="Calibri" pitchFamily="34" charset="-120"/>
              </a:rPr>
              <a:t>Multi30k still earns its place: 3 seeds and all four cells, so it carries the error bars and the reversal × attention interaction that WMT's single run cannot.</a:t>
            </a:r>
            <a:endParaRPr lang="en-US" sz="1400" dirty="0"/>
          </a:p>
        </p:txBody>
      </p:sp>
      <p:sp>
        <p:nvSpPr>
          <p:cNvPr id="7" name="Text 4"/>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The generator states this verdict itself from the bucket data, rather than leaving a conditional for the reader to resolve favourably.</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What the model actually reads</a:t>
            </a:r>
            <a:endParaRPr lang="en-US" sz="3400" dirty="0"/>
          </a:p>
        </p:txBody>
      </p:sp>
      <p:sp>
        <p:nvSpPr>
          <p:cNvPr id="4" name="Text 2"/>
          <p:cNvSpPr txBox="1"/>
          <p:nvPr/>
        </p:nvSpPr>
        <p:spPr>
          <a:xfrm>
            <a:off x="548640" y="1463040"/>
            <a:ext cx="11064240" cy="457200"/>
          </a:xfrm>
          <a:prstGeom prst="rect">
            <a:avLst/>
          </a:prstGeom>
          <a:noFill/>
          <a:ln/>
        </p:spPr>
        <p:txBody>
          <a:bodyPr wrap="square" lIns="0" tIns="0" rIns="0" bIns="0" rtlCol="0" anchor="ctr"/>
          <a:lstStyle/>
          <a:p>
            <a:pPr indent="0" marL="0">
              <a:buNone/>
            </a:pPr>
            <a:r>
              <a:rPr lang="en-US" sz="1400" dirty="0">
                <a:solidFill>
                  <a:srgbClr val="3B4A7A"/>
                </a:solidFill>
                <a:latin typeface="Calibri" pitchFamily="34" charset="0"/>
                <a:ea typeface="Calibri" pitchFamily="34" charset="-122"/>
                <a:cs typeface="Calibri" pitchFamily="34" charset="-120"/>
              </a:rPr>
              <a:t>Alignments over the model's OWN output. Source axis is in ENCODER reading order — for a reversed model that is right-to-left, so a faithful alignment is an ANTI-diagonal.</a:t>
            </a:r>
            <a:endParaRPr lang="en-US" sz="1400" dirty="0"/>
          </a:p>
        </p:txBody>
      </p:sp>
      <p:pic>
        <p:nvPicPr>
          <p:cNvPr id="5" name="Image 0" descr="/Users/rubenstalin/Library/Mobile Documents/com~apple~CloudDocs/Sem 7/Intro to ML/seq2seq-ee5180/results/wmt14_endterm/alignments/alignment_00.png">    </p:cNvPr>
          <p:cNvPicPr>
            <a:picLocks noChangeAspect="1"/>
          </p:cNvPicPr>
          <p:nvPr/>
        </p:nvPicPr>
        <p:blipFill>
          <a:blip r:embed="rId1"/>
          <a:srcRect l="0" r="0" t="0" b="0"/>
          <a:stretch/>
        </p:blipFill>
        <p:spPr>
          <a:xfrm>
            <a:off x="548640" y="2057400"/>
            <a:ext cx="5486400" cy="3566160"/>
          </a:xfrm>
          <a:prstGeom prst="rect">
            <a:avLst/>
          </a:prstGeom>
        </p:spPr>
      </p:pic>
      <p:pic>
        <p:nvPicPr>
          <p:cNvPr id="6" name="Image 1" descr="/Users/rubenstalin/Library/Mobile Documents/com~apple~CloudDocs/Sem 7/Intro to ML/seq2seq-ee5180/results/wmt14_endterm/alignments/alignment_01.png">    </p:cNvPr>
          <p:cNvPicPr>
            <a:picLocks noChangeAspect="1"/>
          </p:cNvPicPr>
          <p:nvPr/>
        </p:nvPicPr>
        <p:blipFill>
          <a:blip r:embed="rId2"/>
          <a:srcRect l="0" r="0" t="0" b="0"/>
          <a:stretch/>
        </p:blipFill>
        <p:spPr>
          <a:xfrm>
            <a:off x="6217920" y="2057400"/>
            <a:ext cx="5486400" cy="35661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PROBES</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The bottleneck without BLEU</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377440"/>
                <a:gridCol w="1463040"/>
                <a:gridCol w="2377440"/>
                <a:gridCol w="2377440"/>
                <a:gridCol w="2468880"/>
              </a:tblGrid>
              <a:tr h="2743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source length</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fixed vector</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 attention</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ratio</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8204A"/>
                    </a:solidFill>
                  </a:tcPr>
                </a:tc>
              </a:tr>
              <a:tr h="27432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1-10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405</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20.43</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13.27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0.650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11-20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954</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17.79</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9.57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0.538</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21-30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832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21.66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9.95</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0.459</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31-40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535</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27.96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11.27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0.403</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41-50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194</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32.97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11.60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0.352</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r h="274320">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51-70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39.16</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dirty="0">
                          <a:solidFill>
                            <a:srgbClr val="3B4A7A"/>
                          </a:solidFill>
                          <a:latin typeface="Calibri" pitchFamily="34" charset="0"/>
                          <a:ea typeface="Calibri" pitchFamily="34" charset="-122"/>
                          <a:cs typeface="Calibri" pitchFamily="34" charset="-120"/>
                        </a:rPr>
                        <a:t>12.67</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c>
                  <a:txBody>
                    <a:bodyPr/>
                    <a:lstStyle/>
                    <a:p>
                      <a:pPr algn="ctr" indent="0" marL="0">
                        <a:buNone/>
                      </a:pPr>
                      <a:r>
                        <a:rPr lang="en-US" sz="1300" b="1" dirty="0">
                          <a:solidFill>
                            <a:srgbClr val="4C72B0"/>
                          </a:solidFill>
                          <a:latin typeface="Calibri" pitchFamily="34" charset="0"/>
                          <a:ea typeface="Calibri" pitchFamily="34" charset="-122"/>
                          <a:cs typeface="Calibri" pitchFamily="34" charset="-120"/>
                        </a:rPr>
                        <a:t>0.324</a:t>
                      </a:r>
                      <a:endParaRPr lang="en-US" sz="1300" dirty="0">
                        <a:latin typeface="Calibri" charset="0"/>
                        <a:ea typeface="Calibri" charset="0"/>
                        <a:cs typeface="Calibri" charset="0"/>
                      </a:endParaRPr>
                    </a:p>
                  </a:txBody>
                  <a:tcPr marL="91440" marR="91440" marT="45720" marB="45720"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tcPr>
                </a:tc>
              </a:tr>
            </a:tbl>
          </a:graphicData>
        </a:graphic>
      </p:graphicFrame>
      <p:sp>
        <p:nvSpPr>
          <p:cNvPr id="5" name="Text 2"/>
          <p:cNvSpPr txBox="1"/>
          <p:nvPr/>
        </p:nvSpPr>
        <p:spPr>
          <a:xfrm>
            <a:off x="548640" y="3730752"/>
            <a:ext cx="11064240" cy="822960"/>
          </a:xfrm>
          <a:prstGeom prst="rect">
            <a:avLst/>
          </a:prstGeom>
          <a:noFill/>
          <a:ln/>
        </p:spPr>
        <p:txBody>
          <a:bodyPr wrap="square" lIns="0" tIns="0" rIns="0" bIns="0" rtlCol="0" anchor="ctr"/>
          <a:lstStyle/>
          <a:p>
            <a:pPr indent="0" marL="0">
              <a:buNone/>
            </a:pPr>
            <a:r>
              <a:rPr lang="en-US" sz="1400" dirty="0">
                <a:solidFill>
                  <a:srgbClr val="3B4A7A"/>
                </a:solidFill>
                <a:latin typeface="Calibri" pitchFamily="34" charset="0"/>
                <a:ea typeface="Calibri" pitchFamily="34" charset="-122"/>
                <a:cs typeface="Calibri" pitchFamily="34" charset="-120"/>
              </a:rPr>
              <a:t>Per-token perplexity — the model's own likelihood. No beam search, no brevity penalty, no n-gram matching. A ratio that FALLS across the buckets means attention helps more on long sentences.</a:t>
            </a:r>
            <a:endParaRPr lang="en-US" sz="1400" dirty="0"/>
          </a:p>
        </p:txBody>
      </p:sp>
      <p:pic>
        <p:nvPicPr>
          <p:cNvPr id="6" name="Image 0" descr="/Users/rubenstalin/Library/Mobile Documents/com~apple~CloudDocs/Sem 7/Intro to ML/seq2seq-ee5180/results/wmt14_endterm/probe/sentence_vector_norm.png">    </p:cNvPr>
          <p:cNvPicPr>
            <a:picLocks noChangeAspect="1"/>
          </p:cNvPicPr>
          <p:nvPr/>
        </p:nvPicPr>
        <p:blipFill>
          <a:blip r:embed="rId1"/>
          <a:srcRect l="0" r="0" t="0" b="0"/>
          <a:stretch/>
        </p:blipFill>
        <p:spPr>
          <a:xfrm>
            <a:off x="6583680" y="3657600"/>
            <a:ext cx="5029200" cy="228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THE LINE</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Attention → Transformer</a:t>
            </a:r>
            <a:endParaRPr lang="en-US" sz="3400" dirty="0"/>
          </a:p>
        </p:txBody>
      </p:sp>
      <p:sp>
        <p:nvSpPr>
          <p:cNvPr id="4" name="Shape 2"/>
          <p:cNvSpPr/>
          <p:nvPr/>
        </p:nvSpPr>
        <p:spPr>
          <a:xfrm>
            <a:off x="548640" y="1572768"/>
            <a:ext cx="11064240" cy="1463040"/>
          </a:xfrm>
          <a:prstGeom prst="roundRect">
            <a:avLst>
              <a:gd name="adj" fmla="val 5000"/>
            </a:avLst>
          </a:prstGeom>
          <a:solidFill>
            <a:srgbClr val="F6F7FB"/>
          </a:solidFill>
          <a:ln w="12700">
            <a:solidFill>
              <a:srgbClr val="D6DBE8"/>
            </a:solidFill>
            <a:prstDash val="solid"/>
          </a:ln>
        </p:spPr>
      </p:sp>
      <p:sp>
        <p:nvSpPr>
          <p:cNvPr id="5" name="Text 3"/>
          <p:cNvSpPr txBox="1"/>
          <p:nvPr/>
        </p:nvSpPr>
        <p:spPr>
          <a:xfrm>
            <a:off x="777240" y="1700784"/>
            <a:ext cx="10607040" cy="1234440"/>
          </a:xfrm>
          <a:prstGeom prst="rect">
            <a:avLst/>
          </a:prstGeom>
          <a:noFill/>
          <a:ln/>
        </p:spPr>
        <p:txBody>
          <a:bodyPr wrap="square" lIns="0" tIns="0" rIns="0" bIns="0" rtlCol="0" anchor="ctr"/>
          <a:lstStyle/>
          <a:p>
            <a:pPr indent="0" marL="0">
              <a:lnSpc>
                <a:spcPct val="125000"/>
              </a:lnSpc>
              <a:buNone/>
            </a:pPr>
            <a:r>
              <a:rPr lang="en-US" sz="1300" dirty="0">
                <a:solidFill>
                  <a:srgbClr val="18204A"/>
                </a:solidFill>
                <a:latin typeface="Consolas" pitchFamily="34" charset="0"/>
                <a:ea typeface="Consolas" pitchFamily="34" charset="-122"/>
                <a:cs typeface="Consolas" pitchFamily="34" charset="-120"/>
              </a:rPr>
              <a:t>fixed vector            →  attention,            →  attention only,      →  decoder-only LLMs</a:t>
            </a:r>
            <a:endParaRPr lang="en-US" sz="1300" dirty="0"/>
          </a:p>
          <a:p>
            <a:pPr indent="0" marL="0">
              <a:lnSpc>
                <a:spcPct val="125000"/>
              </a:lnSpc>
              <a:buNone/>
            </a:pPr>
            <a:r>
              <a:rPr lang="en-US" sz="1300" dirty="0">
                <a:solidFill>
                  <a:srgbClr val="18204A"/>
                </a:solidFill>
                <a:latin typeface="Consolas" pitchFamily="34" charset="0"/>
                <a:ea typeface="Consolas" pitchFamily="34" charset="-122"/>
                <a:cs typeface="Consolas" pitchFamily="34" charset="-120"/>
              </a:rPr>
              <a:t>Sutskever 2014             recurrence kept          recurrence removed</a:t>
            </a:r>
            <a:endParaRPr lang="en-US" sz="1300" dirty="0"/>
          </a:p>
          <a:p>
            <a:pPr indent="0" marL="0">
              <a:lnSpc>
                <a:spcPct val="125000"/>
              </a:lnSpc>
              <a:buNone/>
            </a:pPr>
            <a:r>
              <a:rPr lang="en-US" sz="1300" dirty="0">
                <a:solidFill>
                  <a:srgbClr val="18204A"/>
                </a:solidFill>
                <a:latin typeface="Consolas" pitchFamily="34" charset="0"/>
                <a:ea typeface="Consolas" pitchFamily="34" charset="-122"/>
                <a:cs typeface="Consolas" pitchFamily="34" charset="-120"/>
              </a:rPr>
              <a:t>(our mid-term)             Bahdanau 2015            Vaswani 2017</a:t>
            </a:r>
            <a:endParaRPr lang="en-US" sz="1300" dirty="0"/>
          </a:p>
          <a:p>
            <a:pPr indent="0" marL="0">
              <a:lnSpc>
                <a:spcPct val="125000"/>
              </a:lnSpc>
              <a:buNone/>
            </a:pPr>
            <a:r>
              <a:rPr lang="en-US" sz="1300" dirty="0">
                <a:solidFill>
                  <a:srgbClr val="18204A"/>
                </a:solidFill>
                <a:latin typeface="Consolas" pitchFamily="34" charset="0"/>
                <a:ea typeface="Consolas" pitchFamily="34" charset="-122"/>
                <a:cs typeface="Consolas" pitchFamily="34" charset="-120"/>
              </a:rPr>
              <a:t>                           (this report)</a:t>
            </a:r>
            <a:endParaRPr lang="en-US" sz="1300" dirty="0"/>
          </a:p>
        </p:txBody>
      </p:sp>
      <p:sp>
        <p:nvSpPr>
          <p:cNvPr id="6" name="Text 4"/>
          <p:cNvSpPr txBox="1"/>
          <p:nvPr/>
        </p:nvSpPr>
        <p:spPr>
          <a:xfrm>
            <a:off x="548640" y="3200400"/>
            <a:ext cx="11064240" cy="25603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3B4A7A"/>
                </a:solidFill>
                <a:latin typeface="Calibri" pitchFamily="34" charset="0"/>
                <a:ea typeface="Calibri" pitchFamily="34" charset="-122"/>
                <a:cs typeface="Calibri" pitchFamily="34" charset="-120"/>
              </a:rPr>
              <a:t>Attention gives a CONSTANT-LENGTH path between any source position and any target step. The recurrence's path grows with distance — which is exactly why the paper had to reverse the source.</a:t>
            </a:r>
            <a:endParaRPr lang="en-US" sz="1300" dirty="0"/>
          </a:p>
          <a:p>
            <a:pPr marL="342900" indent="-342900">
              <a:spcAft>
                <a:spcPts val="900"/>
              </a:spcAft>
              <a:buSzPct val="100000"/>
              <a:buChar char="•"/>
            </a:pPr>
            <a:r>
              <a:rPr lang="en-US" sz="1300" dirty="0">
                <a:solidFill>
                  <a:srgbClr val="3B4A7A"/>
                </a:solidFill>
                <a:latin typeface="Calibri" pitchFamily="34" charset="0"/>
                <a:ea typeface="Calibri" pitchFamily="34" charset="-122"/>
                <a:cs typeface="Calibri" pitchFamily="34" charset="-120"/>
              </a:rPr>
              <a:t>So why keep the recurrence? Its last job was context-dependent representations — and attention can do that too, by attending to itself.</a:t>
            </a:r>
            <a:endParaRPr lang="en-US" sz="1300" dirty="0"/>
          </a:p>
          <a:p>
            <a:pPr marL="342900" indent="-342900">
              <a:spcAft>
                <a:spcPts val="900"/>
              </a:spcAft>
              <a:buSzPct val="100000"/>
              <a:buChar char="•"/>
            </a:pPr>
            <a:r>
              <a:rPr lang="en-US" sz="1300" dirty="0">
                <a:solidFill>
                  <a:srgbClr val="3B4A7A"/>
                </a:solidFill>
                <a:latin typeface="Calibri" pitchFamily="34" charset="0"/>
                <a:ea typeface="Calibri" pitchFamily="34" charset="-122"/>
                <a:cs typeface="Calibri" pitchFamily="34" charset="-120"/>
              </a:rPr>
              <a:t>Removing it buys what an LSTM never can: timesteps stop being sequentially dependent. We PAID that cost and measured it — our attention decoder is ~3× slower precisely because the context enters the recurrence and forces a per-step loop.</a:t>
            </a:r>
            <a:endParaRPr lang="en-US" sz="1300" dirty="0"/>
          </a:p>
          <a:p>
            <a:pPr marL="342900" indent="-342900">
              <a:spcAft>
                <a:spcPts val="900"/>
              </a:spcAft>
              <a:buSzPct val="100000"/>
              <a:buChar char="•"/>
            </a:pPr>
            <a:r>
              <a:rPr lang="en-US" sz="1300" dirty="0">
                <a:solidFill>
                  <a:srgbClr val="3B4A7A"/>
                </a:solidFill>
                <a:latin typeface="Calibri" pitchFamily="34" charset="0"/>
                <a:ea typeface="Calibri" pitchFamily="34" charset="-122"/>
                <a:cs typeface="Calibri" pitchFamily="34" charset="-120"/>
              </a:rPr>
              <a:t>Three gaps had to close first: positional encodings (a set has no order), multiple heads (one distribution expresses one alignment), and the scaled DOT-PRODUCT score — our additive energy needs a (B,T,S,A) tensor, 2.8 GB in one allocation at our batch, which we measured driving this machine into swap. QKᵀ/√d needs two matmuls.</a:t>
            </a:r>
            <a:endParaRPr lang="en-US" sz="1300" dirty="0"/>
          </a:p>
        </p:txBody>
      </p:sp>
      <p:sp>
        <p:nvSpPr>
          <p:cNvPr id="7" name="Text 5"/>
          <p:cNvSpPr txBox="1"/>
          <p:nvPr/>
        </p:nvSpPr>
        <p:spPr>
          <a:xfrm>
            <a:off x="548640" y="6199632"/>
            <a:ext cx="11064240" cy="38404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We do not claim to have tested the Transformer step — the self-attention run stayed out of scope. The runs here support the first arrow.</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120" kern="0" dirty="0">
                <a:solidFill>
                  <a:srgbClr val="4C72B0"/>
                </a:solidFill>
                <a:latin typeface="Calibri" pitchFamily="34" charset="0"/>
                <a:ea typeface="Calibri" pitchFamily="34" charset="-122"/>
                <a:cs typeface="Calibri" pitchFamily="34" charset="-120"/>
              </a:rPr>
              <a:t>HONESTY</a:t>
            </a:r>
            <a:endParaRPr lang="en-US" sz="1200" dirty="0"/>
          </a:p>
        </p:txBody>
      </p:sp>
      <p:sp>
        <p:nvSpPr>
          <p:cNvPr id="3" name="Text 1"/>
          <p:cNvSpPr txBox="1"/>
          <p:nvPr/>
        </p:nvSpPr>
        <p:spPr>
          <a:xfrm>
            <a:off x="548640" y="676656"/>
            <a:ext cx="11064240" cy="713232"/>
          </a:xfrm>
          <a:prstGeom prst="rect">
            <a:avLst/>
          </a:prstGeom>
          <a:noFill/>
          <a:ln/>
        </p:spPr>
        <p:txBody>
          <a:bodyPr wrap="square" lIns="0" tIns="0" rIns="0" bIns="0" rtlCol="0" anchor="ctr"/>
          <a:lstStyle/>
          <a:p>
            <a:pPr indent="0" marL="0">
              <a:buNone/>
            </a:pPr>
            <a:r>
              <a:rPr lang="en-US" sz="3400" b="1" dirty="0">
                <a:solidFill>
                  <a:srgbClr val="18204A"/>
                </a:solidFill>
                <a:latin typeface="Cambria" pitchFamily="34" charset="0"/>
                <a:ea typeface="Cambria" pitchFamily="34" charset="-122"/>
                <a:cs typeface="Cambria" pitchFamily="34" charset="-120"/>
              </a:rPr>
              <a:t>What we claim, and what we do not</a:t>
            </a:r>
            <a:endParaRPr lang="en-US" sz="3400" dirty="0"/>
          </a:p>
        </p:txBody>
      </p:sp>
      <p:sp>
        <p:nvSpPr>
          <p:cNvPr id="4" name="Text 2"/>
          <p:cNvSpPr txBox="1"/>
          <p:nvPr/>
        </p:nvSpPr>
        <p:spPr>
          <a:xfrm>
            <a:off x="548640" y="1600200"/>
            <a:ext cx="11064240" cy="411480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3B4A7A"/>
                </a:solidFill>
                <a:latin typeface="Calibri" pitchFamily="34" charset="0"/>
                <a:ea typeface="Calibri" pitchFamily="34" charset="-122"/>
                <a:cs typeface="Calibri" pitchFamily="34" charset="-120"/>
              </a:rPr>
              <a:t>We do NOT claim comparable BLEU. 500k pairs vs 12M, 2×512 vs 4×1000, 32k/32k vocab vs 160k/80k, one laptop GPU vs 8 GPUs for 10 days.</a:t>
            </a:r>
            <a:endParaRPr lang="en-US" sz="1450" dirty="0"/>
          </a:p>
          <a:p>
            <a:pPr marL="342900" indent="-342900">
              <a:spcAft>
                <a:spcPts val="900"/>
              </a:spcAft>
              <a:buSzPct val="100000"/>
              <a:buChar char="•"/>
            </a:pPr>
            <a:r>
              <a:rPr lang="en-US" sz="1450" dirty="0">
                <a:solidFill>
                  <a:srgbClr val="3B4A7A"/>
                </a:solidFill>
                <a:latin typeface="Calibri" pitchFamily="34" charset="0"/>
                <a:ea typeface="Calibri" pitchFamily="34" charset="-122"/>
                <a:cs typeface="Calibri" pitchFamily="34" charset="-120"/>
              </a:rPr>
              <a:t>We DO claim the direction and the shape: whether the fixed-vector arm degrades with source length and the attention arm does not; whether the reversal gap shrinks.</a:t>
            </a:r>
            <a:endParaRPr lang="en-US" sz="1450" dirty="0"/>
          </a:p>
          <a:p>
            <a:pPr marL="342900" indent="-342900">
              <a:spcAft>
                <a:spcPts val="900"/>
              </a:spcAft>
              <a:buSzPct val="100000"/>
              <a:buChar char="•"/>
            </a:pPr>
            <a:r>
              <a:rPr lang="en-US" sz="1450" dirty="0">
                <a:solidFill>
                  <a:srgbClr val="3B4A7A"/>
                </a:solidFill>
                <a:latin typeface="Calibri" pitchFamily="34" charset="0"/>
                <a:ea typeface="Calibri" pitchFamily="34" charset="-122"/>
                <a:cs typeface="Calibri" pitchFamily="34" charset="-120"/>
              </a:rPr>
              <a:t>The comparison is controlled: one flag apart, +3.6% parameters, baseline retrained on identical data.</a:t>
            </a:r>
            <a:endParaRPr lang="en-US" sz="1450" dirty="0"/>
          </a:p>
          <a:p>
            <a:pPr marL="342900" indent="-342900">
              <a:spcAft>
                <a:spcPts val="900"/>
              </a:spcAft>
              <a:buSzPct val="100000"/>
              <a:buChar char="•"/>
            </a:pPr>
            <a:r>
              <a:rPr lang="en-US" sz="1450" dirty="0">
                <a:solidFill>
                  <a:srgbClr val="3B4A7A"/>
                </a:solidFill>
                <a:latin typeface="Calibri" pitchFamily="34" charset="0"/>
                <a:ea typeface="Calibri" pitchFamily="34" charset="-122"/>
                <a:cs typeface="Calibri" pitchFamily="34" charset="-120"/>
              </a:rPr>
              <a:t>The mid-term is untouched — its hypotheses re-decode byte-identically.</a:t>
            </a:r>
            <a:endParaRPr lang="en-US" sz="1450" dirty="0"/>
          </a:p>
          <a:p>
            <a:pPr marL="342900" indent="-342900">
              <a:spcAft>
                <a:spcPts val="900"/>
              </a:spcAft>
              <a:buSzPct val="100000"/>
              <a:buChar char="•"/>
            </a:pPr>
            <a:r>
              <a:rPr lang="en-US" sz="1450" dirty="0">
                <a:solidFill>
                  <a:srgbClr val="3B4A7A"/>
                </a:solidFill>
                <a:latin typeface="Calibri" pitchFamily="34" charset="0"/>
                <a:ea typeface="Calibri" pitchFamily="34" charset="-122"/>
                <a:cs typeface="Calibri" pitchFamily="34" charset="-120"/>
              </a:rPr>
              <a:t>Negative results are reported. The mid-term's beam trend did not reproduce and we said so.</a:t>
            </a:r>
            <a:endParaRPr lang="en-US" sz="1450" dirty="0"/>
          </a:p>
          <a:p>
            <a:pPr marL="342900" indent="-342900">
              <a:spcAft>
                <a:spcPts val="900"/>
              </a:spcAft>
              <a:buSzPct val="100000"/>
              <a:buChar char="•"/>
            </a:pPr>
            <a:r>
              <a:rPr lang="en-US" sz="1450" dirty="0">
                <a:solidFill>
                  <a:srgbClr val="3B4A7A"/>
                </a:solidFill>
                <a:latin typeface="Calibri" pitchFamily="34" charset="0"/>
                <a:ea typeface="Calibri" pitchFamily="34" charset="-122"/>
                <a:cs typeface="Calibri" pitchFamily="34" charset="-120"/>
              </a:rPr>
              <a:t>No pair is dropped for a source/target length mismatch; prepare_report.json records "ratio": 0.</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fixed-vector bottleneck</dc:title>
  <dc:subject>PptxGenJS Presentation</dc:subject>
  <dc:creator>EE5180 project group</dc:creator>
  <cp:lastModifiedBy>EE5180 project group</cp:lastModifiedBy>
  <cp:revision>1</cp:revision>
  <dcterms:created xsi:type="dcterms:W3CDTF">2026-10-28T05:14:40Z</dcterms:created>
  <dcterms:modified xsi:type="dcterms:W3CDTF">2026-10-28T05:14:40Z</dcterms:modified>
</cp:coreProperties>
</file>