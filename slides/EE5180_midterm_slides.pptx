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reproduce Table 1 rows 3 and 4 — single forward vs single reversed LSTM — at reduced scale, and are explicit throughout that absolute BLEU is not comparable to the paper's.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Rows 3 and 4 are also the cheapest scientifically meaningful pair — no ensembling required.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Paper sec. 3.3: perplexity 5.8 -&gt; 4.7, BLEU 25.9 -&gt; 30.6. This is the paper's key technical contribution.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82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745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Reproducing Table 1</a:t>
            </a:r>
            <a:endParaRPr lang="en-US" sz="4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2491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Sequence to Sequence Learning with Neural Networks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20040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Sutskever, Vinyals &amp; Le — Google — NeurIPS 2014 — arXiv:1409.3215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97764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EE5180 course project  ·  mid-term deliverable  ·  TA: Prasenjit Kr Mudi (EE21D057)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mid-term asks for</a:t>
            </a:r>
            <a:endParaRPr lang="en-US" sz="3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72768"/>
          <a:ext cx="11064240" cy="914400"/>
        </p:xfrm>
        <a:graphic>
          <a:graphicData uri="http://schemas.openxmlformats.org/drawingml/2006/table">
            <a:tbl>
              <a:tblPr/>
              <a:tblGrid>
                <a:gridCol w="6583680"/>
                <a:gridCol w="448056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Table 1 row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Paper, cased BLEU on ntst14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0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forward LSTM, beam 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reversed LSTM, beam 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4C72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27432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these two rows: they differ in exactly one thing — the direction the encoder reads the source — so together they isolate the paper's central empirical claim.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520440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Reproduce 1–2 rows of Table 1 and demonstrate understanding of the method.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End-term: study the fixed-vector bottleneck and how it motivated Attention → Transformer.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method</a:t>
            </a:r>
            <a:endParaRPr lang="en-US" sz="3400" dirty="0"/>
          </a:p>
        </p:txBody>
      </p:sp>
      <p:pic>
        <p:nvPicPr>
          <p:cNvPr id="4" name="Image 0" descr="/Users/rubenstalin/Library/Mobile Documents/com~apple~CloudDocs/Sem 7/Intro to ML/seq2seq-ee5180/results/figures/model_schemat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1481328"/>
            <a:ext cx="11521440" cy="3429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0749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pPr indent="0" marL="0">
              <a:buNone/>
            </a:pPr>
            <a:r>
              <a:rPr lang="en-US" sz="15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LSTM reads the source and ends in a state </a:t>
            </a:r>
            <a:pPr indent="0" marL="0">
              <a:buNone/>
            </a:pPr>
            <a:r>
              <a:rPr lang="en-US" sz="1500" b="1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(h, c)</a:t>
            </a:r>
            <a:pPr indent="0" marL="0">
              <a:buNone/>
            </a:pPr>
            <a:r>
              <a:rPr lang="en-US" sz="15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That state — and nothing else — conditions a </a:t>
            </a:r>
            <a:pPr indent="0" marL="0">
              <a:buNone/>
            </a:pPr>
            <a:r>
              <a:rPr lang="en-US" sz="1500" b="1" dirty="0">
                <a:solidFill>
                  <a:srgbClr val="2C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decoder</a:t>
            </a:r>
            <a:pPr indent="0" marL="0">
              <a:buNone/>
            </a:pPr>
            <a:r>
              <a:rPr lang="en-US" sz="15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LSTM, a language model over the target. Trained by maximising log p(T | S); decoded by beam search.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19963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Paper: 4 layers x 1000 cells = 8000 numbers per sentence. Ours: 2 x 512 = 2048.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 UNDER TEST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reversing the source should help</a:t>
            </a:r>
            <a:endParaRPr lang="en-US" sz="3400" dirty="0"/>
          </a:p>
        </p:txBody>
      </p:sp>
      <p:pic>
        <p:nvPicPr>
          <p:cNvPr id="4" name="Image 0" descr="/Users/rubenstalin/Library/Mobile Documents/com~apple~CloudDocs/Sem 7/Intro to ML/seq2seq-ee5180/results/figures/time_l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08760"/>
            <a:ext cx="11155680" cy="31089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48006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Reversal leaves the average distance between corresponding words unchanged, but collapses the minimal time lag from the sentence length to one step — so backpropagation has a short path to establish the source→target correspondence early.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623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target is never reversed.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82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8FA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 CAVEAT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BLEU is not comparable to the paper's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429000" cy="1600200"/>
          </a:xfrm>
          <a:prstGeom prst="roundRect">
            <a:avLst>
              <a:gd name="adj" fmla="val 5143"/>
            </a:avLst>
          </a:prstGeom>
          <a:solidFill>
            <a:srgbClr val="232C5E"/>
          </a:solidFill>
          <a:ln w="12700">
            <a:solidFill>
              <a:srgbClr val="37427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167128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12M → 0.5M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08152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sentence pairs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51960" y="1965960"/>
            <a:ext cx="3429000" cy="1600200"/>
          </a:xfrm>
          <a:prstGeom prst="roundRect">
            <a:avLst>
              <a:gd name="adj" fmla="val 5143"/>
            </a:avLst>
          </a:prstGeom>
          <a:solidFill>
            <a:srgbClr val="232C5E"/>
          </a:solidFill>
          <a:ln w="12700">
            <a:solidFill>
              <a:srgbClr val="37427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389120" y="2167128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384M → 58M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4389120" y="308152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955280" y="1965960"/>
            <a:ext cx="3429000" cy="1600200"/>
          </a:xfrm>
          <a:prstGeom prst="roundRect">
            <a:avLst>
              <a:gd name="adj" fmla="val 5143"/>
            </a:avLst>
          </a:prstGeom>
          <a:solidFill>
            <a:srgbClr val="232C5E"/>
          </a:solidFill>
          <a:ln w="12700">
            <a:solidFill>
              <a:srgbClr val="37427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092440" y="2167128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GPUs, 10 days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 1 laptop GPU, 5 h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092440" y="308152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9776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we claim reproduction of the direction, ordering and shape of the effects — never of the absolute numbers. Every table we show repeats this.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8920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 exactly as in the paper:  separate enc/dec LSTMs  ·  U(−0.08, 0.08) init  ·  plain SGD lr 0.7 with halving  ·  batch 128, loss ÷ batch size so clip@5 means what the paper says  ·  length bucketing  ·  beam search with hypotheses leaving the beam on &lt;EOS&gt;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and evaluation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64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Training: News-Commentary v9 + Europarl v7 En–Fr — both constituent corpora of the official WMT'14 training set; 1,087,880 pairs survive cleaning, we sample 500,000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newstest2014, full 3003-sentence version — the paper's own ntst14, fetched via sacreBLEU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Dev: newstest2013.  Vocabulary 32k / 32k, OOV → UNK (5.8% OOV on the English test side)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BLEU numbers, always both: tokenized cased BLEU (the multi-bleu.pl equivalent the paper used) and standard sacreBLEU on detokenized output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4114800"/>
            <a:ext cx="11064240" cy="1234440"/>
          </a:xfrm>
          <a:prstGeom prst="roundRect">
            <a:avLst>
              <a:gd name="adj" fmla="val 6667"/>
            </a:avLst>
          </a:prstGeom>
          <a:solidFill>
            <a:srgbClr val="EEF1F8"/>
          </a:solidFill>
          <a:ln w="12700">
            <a:solidFill>
              <a:srgbClr val="EEF1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4279392"/>
            <a:ext cx="106619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bug worth flagging.  </a:t>
            </a:r>
            <a:pPr indent="0" marL="0">
              <a:buNone/>
            </a:pPr>
            <a:r>
              <a:rPr lang="en-US" sz="13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News-Commentary v9 contains ~2,900 bare carriage returns inside lines — a different count in English than in French. Python's default newline handling splits on them and silently misaligns the parallel corpus. Our reader splits on \n only; two regression tests pin it.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Table 1 rows 3 and 4, reproduced</a:t>
            </a:r>
            <a:endParaRPr lang="en-US" sz="3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914400"/>
                <a:gridCol w="1691640"/>
                <a:gridCol w="1783080"/>
                <a:gridCol w="1463040"/>
                <a:gridCol w="1554480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beam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BLEU (tok)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BLEU (detok)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ppl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04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forward LSTM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32.89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forward LSTM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32.89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forward LSTM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32.89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C72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reversed LSTM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4C72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24.50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C72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reversed LSTM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4C72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24.50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4C72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reversed LSTM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4C72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24.50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160520"/>
            <a:ext cx="3566160" cy="1481328"/>
          </a:xfrm>
          <a:prstGeom prst="roundRect">
            <a:avLst>
              <a:gd name="adj" fmla="val 5556"/>
            </a:avLst>
          </a:prstGeom>
          <a:solidFill>
            <a:srgbClr val="EEF1F8"/>
          </a:solidFill>
          <a:ln w="12700">
            <a:solidFill>
              <a:srgbClr val="EEF1F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4306824"/>
            <a:ext cx="35661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C72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+2.71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58368" y="5102352"/>
            <a:ext cx="3346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BLEU from reversal alone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(paper: +4.42)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434840" y="4160520"/>
            <a:ext cx="3566160" cy="1481328"/>
          </a:xfrm>
          <a:prstGeom prst="roundRect">
            <a:avLst>
              <a:gd name="adj" fmla="val 5556"/>
            </a:avLst>
          </a:prstGeom>
          <a:solidFill>
            <a:srgbClr val="EEF1F8"/>
          </a:solidFill>
          <a:ln w="12700">
            <a:solidFill>
              <a:srgbClr val="EEF1F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434840" y="4306824"/>
            <a:ext cx="35661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C72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25%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4544568" y="5102352"/>
            <a:ext cx="3346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test perplexity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(paper: 19%)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321040" y="4160520"/>
            <a:ext cx="3566160" cy="1481328"/>
          </a:xfrm>
          <a:prstGeom prst="roundRect">
            <a:avLst>
              <a:gd name="adj" fmla="val 5556"/>
            </a:avLst>
          </a:prstGeom>
          <a:solidFill>
            <a:srgbClr val="EEF1F8"/>
          </a:solidFill>
          <a:ln w="12700">
            <a:solidFill>
              <a:srgbClr val="EEF1F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321040" y="4306824"/>
            <a:ext cx="35661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B4A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ntst14</a:t>
            </a:r>
            <a:endParaRPr lang="en-US" sz="4000" dirty="0"/>
          </a:p>
        </p:txBody>
      </p:sp>
      <p:sp>
        <p:nvSpPr>
          <p:cNvPr id="13" name="Text 10"/>
          <p:cNvSpPr txBox="1"/>
          <p:nvPr/>
        </p:nvSpPr>
        <p:spPr>
          <a:xfrm>
            <a:off x="8430768" y="5102352"/>
            <a:ext cx="3346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 on the paper's own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3003-sentence test set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619963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gap applies: 0.5M pairs vs 12M, 2x512 vs 4x1000, 32k/32k vocab vs 160k/80k. Compare within our column, not against the paper's.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TABLE 1 TRENDS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Beam size and sentence length</a:t>
            </a:r>
            <a:endParaRPr lang="en-US" sz="3400" dirty="0"/>
          </a:p>
        </p:txBody>
      </p:sp>
      <p:pic>
        <p:nvPicPr>
          <p:cNvPr id="4" name="Image 0" descr="/Users/rubenstalin/Library/Mobile Documents/com~apple~CloudDocs/Sem 7/Intro to ML/seq2seq-ee5180/results/wmt14_small/beam_swee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54480"/>
            <a:ext cx="5394960" cy="3246120"/>
          </a:xfrm>
          <a:prstGeom prst="rect">
            <a:avLst/>
          </a:prstGeom>
        </p:spPr>
      </p:pic>
      <p:pic>
        <p:nvPicPr>
          <p:cNvPr id="5" name="Image 1" descr="/Users/rubenstalin/Library/Mobile Documents/com~apple~CloudDocs/Sem 7/Intro to ML/seq2seq-ee5180/results/wmt14_small/bleu_by_lengt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554480"/>
            <a:ext cx="5394960" cy="32461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495604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Beam 2 recovers 216% of the gain from beam 1 to beam 12 — reproducing the paper's observation that "a beam of size 2 provides most of the benefits of beam search".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619963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Right-hand panel is our analogue of the paper's Fig. 3.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EVIDENCE — MULTI30K En→Fr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seed-controlled replication</a:t>
            </a:r>
            <a:endParaRPr lang="en-US" sz="3400" dirty="0"/>
          </a:p>
        </p:txBody>
      </p:sp>
      <p:pic>
        <p:nvPicPr>
          <p:cNvPr id="4" name="Image 0" descr="/Users/rubenstalin/Library/Mobile Documents/com~apple~CloudDocs/Sem 7/Intro to ML/seq2seq-ee5180/results/multi30k/training_curv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63640" y="1737360"/>
            <a:ext cx="5440680" cy="3291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1627632"/>
            <a:ext cx="54864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29k pairs, same language direction — trains in minutes, so we can afford three seeds per arm.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Table 1 reproduction: different corpus, domain and test set. It shows the effect survives where we can control for seed noise.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Reversal moves BLEU 3.75 → 16.02 and test perplexity 14.35 → 8.93 at beam 12.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effect is proportionally larger than the paper's — with only 29k pairs the forward model never learns a reliable correspondence, so it emits fluent French that does not track the source.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19963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Reversed (blue) sits below forward (red) at every epoch, in all 3 seeds.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Getting it right before spending compute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Correctness gates (pytest, ~12 s)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920240"/>
            <a:ext cx="54864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beam search at B=1 is exactly greedy decoding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wider beam never returns a lower-scoring hypothesis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reversing the input by hand and setting the flag cancel out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padding does not change the encoder's sentence vector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the references against themselves gives BLEU 100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MPS and CPU agree on loss and gradients to 1e-3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0" y="150876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findings worth keeping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0" y="1938528"/>
            <a:ext cx="5212080" cy="1645920"/>
          </a:xfrm>
          <a:prstGeom prst="roundRect">
            <a:avLst>
              <a:gd name="adj" fmla="val 5000"/>
            </a:avLst>
          </a:prstGeom>
          <a:solidFill>
            <a:srgbClr val="EEF1F8"/>
          </a:solidFill>
          <a:ln w="12700">
            <a:solidFill>
              <a:srgbClr val="EEF1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0" y="205740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misalignment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6583680" y="2414016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~2,900 in-line carriage returns in News-Commentary v9, unequal across languages — would have trained on mismatched pairs, silently.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0" y="3813048"/>
            <a:ext cx="5212080" cy="1645920"/>
          </a:xfrm>
          <a:prstGeom prst="roundRect">
            <a:avLst>
              <a:gd name="adj" fmla="val 5000"/>
            </a:avLst>
          </a:prstGeom>
          <a:solidFill>
            <a:srgbClr val="EEF1F8"/>
          </a:solidFill>
          <a:ln w="12700">
            <a:solidFill>
              <a:srgbClr val="EEF1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0" y="393192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Decoding 9× too slow on GPU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4288536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Beam search is latency-bound: 317 ms/sentence on MPS vs 34 ms on CPU. Training stays on GPU; decoding moved to CPU.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19963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PyTorch's Metal LSTM has a history of silently wrong numbers — finding that after an overnight run costs a day.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establishes — and what it does not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49240" cy="3566160"/>
          </a:xfrm>
          <a:prstGeom prst="roundRect">
            <a:avLst>
              <a:gd name="adj" fmla="val 2308"/>
            </a:avLst>
          </a:prstGeom>
          <a:solidFill>
            <a:srgbClr val="EAF0FA"/>
          </a:solidFill>
          <a:ln w="12700">
            <a:solidFill>
              <a:srgbClr val="EAF0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83080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Reproduced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40280"/>
            <a:ext cx="48920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Reversing the source improves both BLEU and perplexity by a clear margin, under an otherwise identical setup.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beam of 2 captures most of the benefit of a beam of 12.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ordering of Table 1 rows 3 and 4 holds at our scale.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0" y="1600200"/>
            <a:ext cx="5212080" cy="3566160"/>
          </a:xfrm>
          <a:prstGeom prst="roundRect">
            <a:avLst>
              <a:gd name="adj" fmla="val 2308"/>
            </a:avLst>
          </a:prstGeom>
          <a:solidFill>
            <a:srgbClr val="FAEDED"/>
          </a:solidFill>
          <a:ln w="12700">
            <a:solidFill>
              <a:srgbClr val="FAEDE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629400" y="17830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attempted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629400" y="2240280"/>
            <a:ext cx="4754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 BLEU anywhere near 26–31.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5-model ensemble rows of Table 1.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1000-best SMT rescoring of Table 2.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3492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need the paper's data and compute. We say so, rather than presenting a smaller number as if it were comparable.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82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8FA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END-TERM GOES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1907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passes through one fixed vector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514600"/>
            <a:ext cx="10972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twelve-word sentence and a fifty-word sentence are compressed into the same 2048 numbers before a single target word is emitted. That is the bottleneck. In our runs on ntst14, reversed-model BLEU falls from 9.5 on 1-10-token sources to 3.7 on 41-inf — the paper, at full scale, reported no such degradation.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3657600"/>
            <a:ext cx="3429000" cy="1691640"/>
          </a:xfrm>
          <a:prstGeom prst="roundRect">
            <a:avLst>
              <a:gd name="adj" fmla="val 4865"/>
            </a:avLst>
          </a:prstGeom>
          <a:solidFill>
            <a:srgbClr val="232C5E"/>
          </a:solidFill>
          <a:ln w="12700">
            <a:solidFill>
              <a:srgbClr val="37427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380390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4E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382219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Quantify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279392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BLEU and perplexity by source-length bucket; probe encoder-state saturation.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51960" y="3657600"/>
            <a:ext cx="3429000" cy="1691640"/>
          </a:xfrm>
          <a:prstGeom prst="roundRect">
            <a:avLst>
              <a:gd name="adj" fmla="val 4865"/>
            </a:avLst>
          </a:prstGeom>
          <a:solidFill>
            <a:srgbClr val="232C5E"/>
          </a:solidFill>
          <a:ln w="12700">
            <a:solidFill>
              <a:srgbClr val="37427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416552" y="380390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4E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892040" y="382219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434840" y="4279392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Bahdanau attention on this same codebase; rerun the identical grid.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955280" y="3657600"/>
            <a:ext cx="3429000" cy="1691640"/>
          </a:xfrm>
          <a:prstGeom prst="roundRect">
            <a:avLst>
              <a:gd name="adj" fmla="val 4865"/>
            </a:avLst>
          </a:prstGeom>
          <a:solidFill>
            <a:srgbClr val="232C5E"/>
          </a:solidFill>
          <a:ln w="12700">
            <a:solidFill>
              <a:srgbClr val="37427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19872" y="380390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4E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595360" y="382219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138160" y="4279392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attention to the Transformer, and on to modern LLM-based MT.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FA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 will be demonstrated, not merely argued.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Reproducing Sutskever et al. (2014)</dc:title>
  <dc:subject>PptxGenJS Presentation</dc:subject>
  <dc:creator>EE5180 project group</dc:creator>
  <cp:lastModifiedBy>EE5180 project group</cp:lastModifiedBy>
  <cp:revision>1</cp:revision>
  <dcterms:created xsi:type="dcterms:W3CDTF">2026-09-08T16:24:27Z</dcterms:created>
  <dcterms:modified xsi:type="dcterms:W3CDTF">2026-09-08T16:24:27Z</dcterms:modified>
</cp:coreProperties>
</file>